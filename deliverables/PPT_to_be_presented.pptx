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72" r:id="rId3"/>
    <p:sldId id="260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embeddedFontLst>
    <p:embeddedFont>
      <p:font typeface="Huni_Quorum Medium BT_cracked" panose="020B060402020202020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Light" panose="00000400000000000000" pitchFamily="2" charset="0"/>
      <p:regular r:id="rId19"/>
      <p:italic r:id="rId20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98"/>
    <a:srgbClr val="4D7F71"/>
    <a:srgbClr val="C7893E"/>
    <a:srgbClr val="415364"/>
    <a:srgbClr val="1A5632"/>
    <a:srgbClr val="BB5248"/>
    <a:srgbClr val="4F947D"/>
    <a:srgbClr val="792530"/>
    <a:srgbClr val="D100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0AFB1-696A-CE7B-B715-B9CA40AA35A3}" v="1" dt="2026-01-22T14:16:50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04"/>
  </p:normalViewPr>
  <p:slideViewPr>
    <p:cSldViewPr snapToGrid="0" snapToObjects="1">
      <p:cViewPr varScale="1">
        <p:scale>
          <a:sx n="78" d="100"/>
          <a:sy n="78" d="100"/>
        </p:scale>
        <p:origin x="1032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 Márk" userId="S::kovacs.mark@bme.hu::ce10e8fa-c24a-4f4d-9683-7487c6685aea" providerId="AD" clId="Web-{1DD0AFB1-696A-CE7B-B715-B9CA40AA35A3}"/>
    <pc:docChg chg="delSld">
      <pc:chgData name="Kovács Márk" userId="S::kovacs.mark@bme.hu::ce10e8fa-c24a-4f4d-9683-7487c6685aea" providerId="AD" clId="Web-{1DD0AFB1-696A-CE7B-B715-B9CA40AA35A3}" dt="2026-01-22T14:16:50.888" v="0"/>
      <pc:docMkLst>
        <pc:docMk/>
      </pc:docMkLst>
      <pc:sldChg chg="del">
        <pc:chgData name="Kovács Márk" userId="S::kovacs.mark@bme.hu::ce10e8fa-c24a-4f4d-9683-7487c6685aea" providerId="AD" clId="Web-{1DD0AFB1-696A-CE7B-B715-B9CA40AA35A3}" dt="2026-01-22T14:16:50.888" v="0"/>
        <pc:sldMkLst>
          <pc:docMk/>
          <pc:sldMk cId="4156519043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47EDD-D00E-C948-9A9F-9891699192BE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C7467-0CCD-0648-94F2-A61C17AB80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058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C67BE-E6C5-3748-8A57-EAA6950DE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D15F8-AF58-144B-89A0-5A86FC8BB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B73B8-4699-484A-B4B1-77C3F215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E8DA8-2CB2-4C42-BEF0-465674C2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3F5AB-2011-564C-99EE-289BE9F4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0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A295-8945-8640-A98A-F2D58BF2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068B9-62A3-5148-8677-5F008FA17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0C14-1614-304F-B17F-210D7146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C17AE-03C7-F347-8834-D0D03932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84791-FDC6-844C-BBB1-62E91400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0138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F829-B681-AB45-944E-1606A5066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4880F-A933-6B48-9626-978E927A3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1175A-6247-E444-9983-DDB8C4FD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986C5-387B-3E4D-8D09-6C9E9FCC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D1221-218F-9644-BAA1-5FAEA8E1F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77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4149-594E-F041-92E2-14811CFA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8C3C8-345D-B64C-9E1E-82131EE20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0697D-501A-1547-8F5A-4B4795CCC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44A79-9FAA-A640-8351-B029E40F7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64126-C7B2-874E-825F-3BBEDFE0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CD2F5-A622-694B-B4F3-B30DDA7C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511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1E43-0765-7849-A1C8-0CD0A3CCB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386A1-1F95-6B4F-AAB3-EC901948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79C0D-97B0-3042-AF75-82045D189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62537-A084-4E44-8BE7-98ADE0774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6EC3C-5D08-C349-A068-6E0361A5F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933FB-9A06-3949-B127-4B245BA4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77E61-D9BF-E748-840F-CFA2FFE6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397A-855C-DB47-B3BC-9A0D5D05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238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0413-298D-AA47-93BA-3CF1D616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AA53C-E3E2-1148-82D5-58257486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FC8BE-4A6D-2041-BEAE-1C5884EC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D5C54-B50E-4248-BDBD-5759D432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817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2888D-A3E6-7048-A0E3-4A903781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E1C61-C786-1340-BE74-57820AEF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B464-7AB4-0244-9E28-F34069D8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7189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CD40-8B3E-0945-A0A1-D37111F3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F5595-B1A0-4242-86B9-3C3F715B6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84C2F-5814-9B43-B5C5-DBF4BB03E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1FA8F-3E77-EE4B-BA4D-A7456855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1848A-5F08-174A-9D7B-E4EBB6AD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16B12-C41C-3945-AC7B-C6EE89C5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691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217AD-46FA-7348-93AF-A7F44B62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931F7-A6B3-6E47-A531-42DD0F876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FC9BA-DC93-9F40-A1EA-9996388EF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C7F2E-8C3D-EE42-9CDF-D5931ADC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6E802-0C72-F34F-8F4B-CB16F8C5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E751-8F19-E540-8970-295D66D0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493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4427-8D26-BD4F-A857-32788A88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7C197-6689-7642-A722-9849043D8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B4624-5809-374D-BC62-719C4DB1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26FEF-0F8F-444C-AB94-675D2936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26581-8254-A84B-9F4C-1D6E4154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654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EE3A4-67A1-E740-8B1F-9A31BE7D3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974DF-648D-8F49-9E38-03101F3C8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3D679-8186-5E4E-89FB-B954B8D0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C4F7B-9F53-8241-AA0F-51AEEFD8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738AF-D240-4A4A-B3F6-BC6DFF06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665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5E922-E8AA-3B4D-8883-A2AD0C16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1CD0B-84DF-2948-BB28-CFAA173CC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8877D-9D7C-084D-A83D-2F754335A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DADEA-6310-2E4C-A6FC-B5E788370784}" type="datetimeFigureOut">
              <a:rPr lang="hu-HU" smtClean="0"/>
              <a:t>2026. 05. 25.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3D21A-4CEA-AA49-AE45-41B962AC8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4FF93-BEAE-A242-BF6A-5110E3086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7C73F-91D2-C74D-BD19-6CBB5D156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556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B8E215-C9E7-0140-8857-766B87245A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FF0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B0E090-1B2D-254C-871A-6A27E28D8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28" y="2659525"/>
            <a:ext cx="9712341" cy="1375522"/>
          </a:xfrm>
        </p:spPr>
        <p:txBody>
          <a:bodyPr>
            <a:noAutofit/>
          </a:bodyPr>
          <a:lstStyle/>
          <a:p>
            <a:pPr algn="ctr">
              <a:lnSpc>
                <a:spcPts val="5480"/>
              </a:lnSpc>
            </a:pPr>
            <a:r>
              <a:rPr lang="en-GB" sz="5400" dirty="0">
                <a:solidFill>
                  <a:schemeClr val="bg1"/>
                </a:solidFill>
                <a:latin typeface="Montserrat Light" pitchFamily="2" charset="77"/>
              </a:rPr>
              <a:t>AI-Based Road User Detection Using Traffic-Monitoring Radar</a:t>
            </a:r>
            <a:endParaRPr lang="en" sz="5400" dirty="0">
              <a:solidFill>
                <a:schemeClr val="bg1"/>
              </a:solidFill>
              <a:latin typeface="Montserrat Ligh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9A133C-048D-8C45-BF24-F308793D048A}"/>
              </a:ext>
            </a:extLst>
          </p:cNvPr>
          <p:cNvSpPr txBox="1"/>
          <p:nvPr/>
        </p:nvSpPr>
        <p:spPr>
          <a:xfrm>
            <a:off x="3749442" y="4893169"/>
            <a:ext cx="4693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pc="200" dirty="0">
                <a:solidFill>
                  <a:schemeClr val="bg1"/>
                </a:solidFill>
                <a:latin typeface="Huni_Quorum Medium BT_cracked" panose="020E0603030505020404" pitchFamily="34" charset="77"/>
              </a:rPr>
              <a:t>Ármin Ihász, Gábor Tompos</a:t>
            </a:r>
            <a:endParaRPr lang="hu-HU" spc="200" dirty="0">
              <a:solidFill>
                <a:schemeClr val="bg1"/>
              </a:solidFill>
              <a:latin typeface="Huni_Quorum Medium BT_cracked" panose="020E0603030505020404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3E30DD-41E6-8140-B2EB-A5BCD5B6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252" y="5639724"/>
            <a:ext cx="2221493" cy="111074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8C5D1A-FEE0-7840-AB8D-F3B03E3FCE70}"/>
              </a:ext>
            </a:extLst>
          </p:cNvPr>
          <p:cNvCxnSpPr/>
          <p:nvPr/>
        </p:nvCxnSpPr>
        <p:spPr>
          <a:xfrm>
            <a:off x="4852145" y="5357480"/>
            <a:ext cx="248770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567BE1C0-42F5-8547-A03A-206488C2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93" y="-478430"/>
            <a:ext cx="10396410" cy="34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19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A73841-4A1D-184C-9FB2-70684C6EC3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FF00"/>
              </a:highlight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6E79C7-62F6-0F48-BCB3-2FFBCE11A150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870DF-40D1-C345-8FBB-C3EE824D1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9182FF-7C8F-FF45-BD76-C828DF99C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28" y="2659525"/>
            <a:ext cx="9712341" cy="1375522"/>
          </a:xfrm>
        </p:spPr>
        <p:txBody>
          <a:bodyPr>
            <a:noAutofit/>
          </a:bodyPr>
          <a:lstStyle/>
          <a:p>
            <a:pPr algn="ctr">
              <a:lnSpc>
                <a:spcPts val="5480"/>
              </a:lnSpc>
            </a:pPr>
            <a:r>
              <a:rPr lang="en" sz="5400" b="1" dirty="0">
                <a:solidFill>
                  <a:schemeClr val="bg1"/>
                </a:solidFill>
                <a:latin typeface="Montserrat" pitchFamily="2" charset="77"/>
              </a:rPr>
              <a:t>To be presented on 27/05/2026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BB2DD6-B303-9F46-B5B9-95179696E557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91E2CA9-FC0F-3542-8C7A-4D249A569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355A600-A8B1-D04A-905A-F300B991DE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4CA5B-6735-C44C-8417-743E654716EA}"/>
              </a:ext>
            </a:extLst>
          </p:cNvPr>
          <p:cNvSpPr/>
          <p:nvPr/>
        </p:nvSpPr>
        <p:spPr>
          <a:xfrm>
            <a:off x="1845039" y="692738"/>
            <a:ext cx="8501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pc="200" dirty="0">
                <a:solidFill>
                  <a:srgbClr val="792530"/>
                </a:solidFill>
                <a:latin typeface="Montserrat Light" pitchFamily="2" charset="77"/>
              </a:rPr>
              <a:t>New model is currently being trained on Kaggle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F1435B-EDA3-E64A-A5FE-240EE80CC45E}"/>
              </a:ext>
            </a:extLst>
          </p:cNvPr>
          <p:cNvSpPr/>
          <p:nvPr/>
        </p:nvSpPr>
        <p:spPr>
          <a:xfrm>
            <a:off x="1845039" y="1347449"/>
            <a:ext cx="85019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400" dirty="0">
                <a:solidFill>
                  <a:srgbClr val="792530"/>
                </a:solidFill>
                <a:latin typeface="Montserrat Light" pitchFamily="2" charset="77"/>
              </a:rPr>
              <a:t>Several models have been built, but the peak MAP@50 achieved was only ~0.34. </a:t>
            </a:r>
          </a:p>
          <a:p>
            <a:pPr algn="ctr"/>
            <a:endParaRPr lang="en" sz="1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endParaRPr lang="en" sz="1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" sz="1400" dirty="0">
                <a:solidFill>
                  <a:srgbClr val="792530"/>
                </a:solidFill>
                <a:latin typeface="Montserrat Light" pitchFamily="2" charset="77"/>
              </a:rPr>
              <a:t>Hopefully we will be able to present the results of the new model.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BA122AD-A213-A046-90F4-CC5195DEB36F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17CFC4-F1C5-0F4C-A1D9-C171507AA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53AD75-ADA6-9D4D-9618-2EF4FDAB19F6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91BFBF30-037D-154A-8BA3-DDC2B9483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5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42575-0580-A189-434D-A6FD0AAD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7DD0E6-68CD-690E-DF86-F3A64E2C5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31FF1-A49A-98B8-30EF-CF09A90B95EE}"/>
              </a:ext>
            </a:extLst>
          </p:cNvPr>
          <p:cNvSpPr/>
          <p:nvPr/>
        </p:nvSpPr>
        <p:spPr>
          <a:xfrm>
            <a:off x="1845039" y="692738"/>
            <a:ext cx="85019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400" spc="200" dirty="0">
                <a:solidFill>
                  <a:srgbClr val="792530"/>
                </a:solidFill>
                <a:latin typeface="Montserrat Light" pitchFamily="2" charset="77"/>
              </a:rPr>
              <a:t>Goal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A1D0E2-2F0A-0020-934A-008B41E38A2E}"/>
              </a:ext>
            </a:extLst>
          </p:cNvPr>
          <p:cNvSpPr/>
          <p:nvPr/>
        </p:nvSpPr>
        <p:spPr>
          <a:xfrm>
            <a:off x="1845039" y="1347449"/>
            <a:ext cx="850192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rgbClr val="792530"/>
                </a:solidFill>
                <a:latin typeface="Montserrat Light" pitchFamily="2" charset="77"/>
              </a:rPr>
              <a:t>Objective: Detect Pedestrians, Cars, and Cyclists in real-time (&lt; 40ms) using a sparse 24 GHz pulse-Doppler radar.</a:t>
            </a:r>
          </a:p>
          <a:p>
            <a:pPr algn="ctr"/>
            <a:r>
              <a:rPr lang="en-GB" sz="3200" dirty="0">
                <a:solidFill>
                  <a:srgbClr val="792530"/>
                </a:solidFill>
                <a:latin typeface="Montserrat Light" pitchFamily="2" charset="77"/>
              </a:rPr>
              <a:t>The Challenges: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92530"/>
                </a:solidFill>
                <a:latin typeface="Montserrat Light" pitchFamily="2" charset="77"/>
              </a:rPr>
              <a:t>    Extreme sparsity of radar point clouds (especially for pedestrians).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92530"/>
                </a:solidFill>
                <a:latin typeface="Montserrat Light" pitchFamily="2" charset="77"/>
              </a:rPr>
              <a:t>    Class imbalance (cars dominate the reflections).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92530"/>
                </a:solidFill>
                <a:latin typeface="Montserrat Light" pitchFamily="2" charset="77"/>
              </a:rPr>
              <a:t>    Camera-to-Radar BEV projection drift at long distances.</a:t>
            </a:r>
            <a:endParaRPr lang="en" sz="32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3EDCDFC-5A40-D9E7-A733-E40F27404452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873F8F-EAFB-1A07-A2F4-0A602A397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935C84F-241D-B6A8-5F0C-6133E9D64C3E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653A8986-4384-E25D-BE5E-4065D5606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132E3-6CBD-4384-446D-6386AD74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7CDFBCA-E636-29C1-CFB3-77E2085445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BA592C-8CD0-D2FF-98F4-FBB14E544060}"/>
              </a:ext>
            </a:extLst>
          </p:cNvPr>
          <p:cNvSpPr/>
          <p:nvPr/>
        </p:nvSpPr>
        <p:spPr>
          <a:xfrm>
            <a:off x="1845039" y="692738"/>
            <a:ext cx="8501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pc="200" dirty="0">
                <a:solidFill>
                  <a:srgbClr val="792530"/>
                </a:solidFill>
                <a:latin typeface="Montserrat Light" pitchFamily="2" charset="77"/>
              </a:rPr>
              <a:t>Annotation &amp; Post-Processing (Camera)</a:t>
            </a:r>
            <a:endParaRPr lang="en" spc="2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6B863B-FDE1-2993-C0B8-93ECA765304D}"/>
              </a:ext>
            </a:extLst>
          </p:cNvPr>
          <p:cNvSpPr/>
          <p:nvPr/>
        </p:nvSpPr>
        <p:spPr>
          <a:xfrm>
            <a:off x="1845039" y="1347449"/>
            <a:ext cx="850192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Inference Setup: Used YOLOv11m on camera footage with a low confidence threshold (conf=0.10) to ensure high recall for heavily occluded pedestrians.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Tracking: Used </a:t>
            </a:r>
            <a:r>
              <a:rPr lang="en-GB" sz="2400" dirty="0" err="1">
                <a:solidFill>
                  <a:srgbClr val="792530"/>
                </a:solidFill>
                <a:latin typeface="Montserrat Light" pitchFamily="2" charset="77"/>
              </a:rPr>
              <a:t>ByteTrack</a:t>
            </a:r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for fast, reliable object ID consistency across frames.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Bike Merge: Applied custom post-processing to merge intersecting pedestrian + bicycle bounding boxes into a unified cyclist class, matching the physical reality of the scene.</a:t>
            </a:r>
            <a:endParaRPr lang="en" sz="24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911CA6A-40E7-50F2-9343-34F32276AED1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2997FE-454E-E0E2-C5FE-A47B518D1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00E442-DDCC-C70C-5A8D-231FCEC4F90F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5C878388-2AC7-8C99-4350-4FB066122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4DC33-E644-2BC1-A82D-F9EF6A85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549A01B-C7FD-BCA6-3E79-F158705629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15A6AF-9930-3063-6925-55FEC295B87C}"/>
              </a:ext>
            </a:extLst>
          </p:cNvPr>
          <p:cNvSpPr/>
          <p:nvPr/>
        </p:nvSpPr>
        <p:spPr>
          <a:xfrm>
            <a:off x="1845039" y="692738"/>
            <a:ext cx="8501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pc="200" dirty="0">
                <a:solidFill>
                  <a:srgbClr val="792530"/>
                </a:solidFill>
                <a:latin typeface="Montserrat Light" pitchFamily="2" charset="77"/>
              </a:rPr>
              <a:t>Radar Grid Mapping (Preprocessing)</a:t>
            </a:r>
            <a:endParaRPr lang="en" spc="2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244694-60A0-EC9D-AE3F-E31C8CB2899E}"/>
              </a:ext>
            </a:extLst>
          </p:cNvPr>
          <p:cNvSpPr/>
          <p:nvPr/>
        </p:nvSpPr>
        <p:spPr>
          <a:xfrm>
            <a:off x="1845039" y="1347449"/>
            <a:ext cx="850192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Temporal Accumulation: Merged 10 consecutive frames (400ms window) to build dense physical contours out of sparse point clouds.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Spatial ROI: Strictly constrained the 70mx20m roadway area.</a:t>
            </a: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Physics-Based Channel Encoding:</a:t>
            </a: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   Ch0 (Red): Occupancy / Point Density.</a:t>
            </a: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   Ch1 (Green): Normalized Amplitude (compensated by R^2 to offset the radar range degradation equation).</a:t>
            </a: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   Ch2 (Blue): Skewed Doppler velocity (square-root scaling to highlight slow-moving pedestrians).</a:t>
            </a: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Cell Propagation: Applied spatial dilation to expand points into visible blobs for the CNN.</a:t>
            </a:r>
            <a:endParaRPr lang="en" sz="24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BEB0EC7-E0E1-E164-3DF5-AE0BD4F9E452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1F9EDF-D635-0014-65F3-AABB63E16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7F54CE-902A-C797-4D36-87559270912E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2D0025B2-97B1-325F-0AF0-E9E7B49A2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3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7D4C-C141-B166-3985-4AB4B47A9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D4B6A7-9371-E0C1-F6CA-D532763DEE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50397D-CF29-76E4-AEE8-CA72F47093BF}"/>
              </a:ext>
            </a:extLst>
          </p:cNvPr>
          <p:cNvSpPr/>
          <p:nvPr/>
        </p:nvSpPr>
        <p:spPr>
          <a:xfrm>
            <a:off x="1845039" y="692738"/>
            <a:ext cx="8501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pc="200" dirty="0">
                <a:solidFill>
                  <a:srgbClr val="792530"/>
                </a:solidFill>
                <a:latin typeface="Montserrat Light" pitchFamily="2" charset="77"/>
              </a:rPr>
              <a:t>Dataset Preparation</a:t>
            </a:r>
            <a:endParaRPr lang="en" spc="2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ABAF96-54B6-3090-BF5F-8F371A853B36}"/>
              </a:ext>
            </a:extLst>
          </p:cNvPr>
          <p:cNvSpPr/>
          <p:nvPr/>
        </p:nvSpPr>
        <p:spPr>
          <a:xfrm>
            <a:off x="1845039" y="1347449"/>
            <a:ext cx="850192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The Problem: Camera </a:t>
            </a:r>
            <a:r>
              <a:rPr lang="en-GB" sz="2400" dirty="0" err="1">
                <a:solidFill>
                  <a:srgbClr val="792530"/>
                </a:solidFill>
                <a:latin typeface="Montserrat Light" pitchFamily="2" charset="77"/>
              </a:rPr>
              <a:t>homography</a:t>
            </a:r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drifts at long distances, misaligning boxes from radar points.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The Solution: Implemented a proximity search (1.5m radius). Bounding boxes were snapped to the median of the radar points, ensuring perfect alignment.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Ghost Filtering: If a camera bounding box had zero supporting radar points, it was deleted to prevent YOLO from learning "empty space."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Target Biasing: Heavily oversampled (x3) the complex May 6th target domain to force the network to prioritize the benchmark environment.</a:t>
            </a:r>
            <a:endParaRPr lang="en" sz="24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83E2D1F-7FF5-E12A-15F4-3FA2659253E2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A373B6-FCCB-43D9-2851-66528937B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9B81D08-6915-947F-A7A9-DC4F30CB0631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95370673-BCF5-6950-F881-FB0448DCE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7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3AB3-1197-C5F7-DA66-7D9D23C0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2334AC7-FD67-5865-1DD8-F4C90F285B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941FB4-114E-79A5-A679-F74F72CCDE2F}"/>
              </a:ext>
            </a:extLst>
          </p:cNvPr>
          <p:cNvSpPr/>
          <p:nvPr/>
        </p:nvSpPr>
        <p:spPr>
          <a:xfrm>
            <a:off x="1845039" y="692738"/>
            <a:ext cx="8501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pc="200" dirty="0">
                <a:solidFill>
                  <a:srgbClr val="792530"/>
                </a:solidFill>
                <a:latin typeface="Montserrat Light" pitchFamily="2" charset="77"/>
              </a:rPr>
              <a:t>Network Architecture &amp; Training Config</a:t>
            </a:r>
            <a:endParaRPr lang="en" spc="2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6D2CC5-00F3-9495-A278-373BBBAED257}"/>
              </a:ext>
            </a:extLst>
          </p:cNvPr>
          <p:cNvSpPr/>
          <p:nvPr/>
        </p:nvSpPr>
        <p:spPr>
          <a:xfrm>
            <a:off x="1845039" y="1347449"/>
            <a:ext cx="850192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Architecture: Chosen YOLOv11n (Nano): To maintain inference speed well under the 40ms constraint and prevent overfitting on sparse radar graphics.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Hyperparameter Tuning:    Switched to </a:t>
            </a:r>
            <a:r>
              <a:rPr lang="en-GB" sz="2400" dirty="0" err="1">
                <a:solidFill>
                  <a:srgbClr val="792530"/>
                </a:solidFill>
                <a:latin typeface="Montserrat Light" pitchFamily="2" charset="77"/>
              </a:rPr>
              <a:t>AdamW</a:t>
            </a:r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optimizer with a strictly tuned learning rate (lr0=0.002) and Cosine Annealing to stabilize gradient descent. 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  Augmentation Restraints: Disabled scaling, translation, and vertical flips. (Scaling alters the strict         0.1m/</a:t>
            </a:r>
            <a:r>
              <a:rPr lang="en-GB" sz="2400" dirty="0" err="1">
                <a:solidFill>
                  <a:srgbClr val="792530"/>
                </a:solidFill>
                <a:latin typeface="Montserrat Light" pitchFamily="2" charset="77"/>
              </a:rPr>
              <a:t>px</a:t>
            </a:r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physical rule, and vertical flips break the approaching/receding Doppler physics).    Loss Weights: Adjusted </a:t>
            </a:r>
            <a:r>
              <a:rPr lang="en-GB" sz="2400" dirty="0" err="1">
                <a:solidFill>
                  <a:srgbClr val="792530"/>
                </a:solidFill>
                <a:latin typeface="Montserrat Light" pitchFamily="2" charset="77"/>
              </a:rPr>
              <a:t>cls</a:t>
            </a:r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=0.5 and box=7.5 to prioritize tight bounding-box regression over class-guessing.</a:t>
            </a:r>
            <a:endParaRPr lang="en" sz="24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BD6A9CF-E606-260F-CC03-015B9E0713DC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30FE0E-DF1E-3283-A6B5-B99E39677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7C9D697-2F8A-7C6A-4255-F0CE781FEEE1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06FE989A-A467-CD4C-1485-E854C41AB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70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2B406-84D3-CF54-D788-16A3BF57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E4CD682-DAB5-6F98-F9C3-52CAC8535D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3E0165-F852-E194-4984-DFA648AD082B}"/>
              </a:ext>
            </a:extLst>
          </p:cNvPr>
          <p:cNvSpPr/>
          <p:nvPr/>
        </p:nvSpPr>
        <p:spPr>
          <a:xfrm>
            <a:off x="1845039" y="692738"/>
            <a:ext cx="8501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pc="200" dirty="0">
                <a:solidFill>
                  <a:srgbClr val="792530"/>
                </a:solidFill>
                <a:latin typeface="Montserrat Light" pitchFamily="2" charset="77"/>
              </a:rPr>
              <a:t>Training &amp; Convergence</a:t>
            </a:r>
            <a:endParaRPr lang="en" spc="2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4FB940-9F14-9A26-57FE-60F0EAFFE40A}"/>
              </a:ext>
            </a:extLst>
          </p:cNvPr>
          <p:cNvSpPr/>
          <p:nvPr/>
        </p:nvSpPr>
        <p:spPr>
          <a:xfrm>
            <a:off x="1845039" y="1347449"/>
            <a:ext cx="85019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Current Status: The model is currently finalizing its 60-epoch training on a Kaggle T4 dual-GPU cluster.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Initially tried 2 stage training, but then the 0.34mAP@50 after first stage drastically fell off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420874-F9D8-21B1-9066-3102EEF2A8D4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66E5DE-FF80-6B63-3528-F9818183C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5AF1E8-C1EF-294C-3891-5F515BDB6F11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FBC3EDD2-C39D-0AC7-8D2E-14E5DCDF1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385921-E22D-9EE2-FFAA-BA1561E32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981" y="3318665"/>
            <a:ext cx="6272992" cy="31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4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6335-2278-B18C-2C03-2075CDB46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58DCE5C-0713-7FFD-77B1-0C692163E4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2FC33-F402-C345-7E76-1DE552453EF9}"/>
              </a:ext>
            </a:extLst>
          </p:cNvPr>
          <p:cNvSpPr/>
          <p:nvPr/>
        </p:nvSpPr>
        <p:spPr>
          <a:xfrm>
            <a:off x="1845039" y="692738"/>
            <a:ext cx="8501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pc="200" dirty="0">
                <a:solidFill>
                  <a:srgbClr val="792530"/>
                </a:solidFill>
                <a:latin typeface="Montserrat Light" pitchFamily="2" charset="77"/>
              </a:rPr>
              <a:t>Training &amp; Convergence</a:t>
            </a:r>
            <a:endParaRPr lang="en" spc="2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3994F78-BFD5-3CB6-9E3A-A95419BCC46E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CDCA106-59FC-9AF0-8F7D-5FA50422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E97497-BC23-4203-C31D-7328D993C63D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C52C80C6-6F90-68CD-3E7E-E09882FE6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FA609D-1A98-91CC-8330-DDBF72684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039" y="2106654"/>
            <a:ext cx="4942348" cy="3706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C13720-9CC1-4059-5E96-486F54DE2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818" y="1652441"/>
            <a:ext cx="4108639" cy="410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9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2DDE-8A8B-2060-80B8-9979AEFB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D53B92B-EBDE-1EAA-F024-E3E9E460D09C}"/>
              </a:ext>
            </a:extLst>
          </p:cNvPr>
          <p:cNvSpPr/>
          <p:nvPr/>
        </p:nvSpPr>
        <p:spPr>
          <a:xfrm>
            <a:off x="-64499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FF00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0EE069-9F0F-559C-4DEB-EE13F6ADECA8}"/>
              </a:ext>
            </a:extLst>
          </p:cNvPr>
          <p:cNvSpPr/>
          <p:nvPr/>
        </p:nvSpPr>
        <p:spPr>
          <a:xfrm>
            <a:off x="1845039" y="692738"/>
            <a:ext cx="8501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pc="200" dirty="0">
                <a:solidFill>
                  <a:srgbClr val="792530"/>
                </a:solidFill>
                <a:latin typeface="Montserrat Light" pitchFamily="2" charset="77"/>
              </a:rPr>
              <a:t>Finishing touches</a:t>
            </a:r>
            <a:endParaRPr lang="en" spc="200" dirty="0">
              <a:solidFill>
                <a:srgbClr val="792530"/>
              </a:solidFill>
              <a:latin typeface="Montserrat Light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0A9BA18-8698-1DFB-E6B9-DED6D2479069}"/>
              </a:ext>
            </a:extLst>
          </p:cNvPr>
          <p:cNvSpPr txBox="1">
            <a:spLocks/>
          </p:cNvSpPr>
          <p:nvPr/>
        </p:nvSpPr>
        <p:spPr>
          <a:xfrm>
            <a:off x="146575" y="80795"/>
            <a:ext cx="5786392" cy="2844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 sz="1000" spc="20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</a:rPr>
              <a:t>BME — TTK THE UNIVERSITY MODEL THAT SHAPES THE FUTURE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D56D66-A3D7-FDC7-5CBC-0528338D8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68" y="6084792"/>
            <a:ext cx="1847914" cy="92395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3EC5156-7B73-49A4-995C-2D7EA62921E0}"/>
              </a:ext>
            </a:extLst>
          </p:cNvPr>
          <p:cNvCxnSpPr>
            <a:cxnSpLocks/>
          </p:cNvCxnSpPr>
          <p:nvPr/>
        </p:nvCxnSpPr>
        <p:spPr>
          <a:xfrm>
            <a:off x="5713863" y="226379"/>
            <a:ext cx="24112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EE0E0D85-0DB2-387F-524C-6B29D2ECA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99" y="5986590"/>
            <a:ext cx="2974413" cy="9129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36AD16-3CE5-3080-0E0B-9D3EEDF2E933}"/>
              </a:ext>
            </a:extLst>
          </p:cNvPr>
          <p:cNvSpPr/>
          <p:nvPr/>
        </p:nvSpPr>
        <p:spPr>
          <a:xfrm>
            <a:off x="1845039" y="1347449"/>
            <a:ext cx="850192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Model Export: Converting the final </a:t>
            </a:r>
            <a:r>
              <a:rPr lang="en-GB" sz="2400" dirty="0" err="1">
                <a:solidFill>
                  <a:srgbClr val="792530"/>
                </a:solidFill>
                <a:latin typeface="Montserrat Light" pitchFamily="2" charset="77"/>
              </a:rPr>
              <a:t>PyTorch</a:t>
            </a:r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weights to an optimized ONNX graph.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Live Feeder Prep: Packaging the grid_mapping_pipeline.py into a callable module.</a:t>
            </a:r>
          </a:p>
          <a:p>
            <a:pPr algn="ctr"/>
            <a:endParaRPr lang="en-GB" sz="2400" dirty="0">
              <a:solidFill>
                <a:srgbClr val="792530"/>
              </a:solidFill>
              <a:latin typeface="Montserrat Light" pitchFamily="2" charset="77"/>
            </a:endParaRPr>
          </a:p>
          <a:p>
            <a:pPr algn="ctr"/>
            <a:r>
              <a:rPr lang="en-GB" sz="2400" dirty="0" err="1">
                <a:solidFill>
                  <a:srgbClr val="792530"/>
                </a:solidFill>
                <a:latin typeface="Montserrat Light" pitchFamily="2" charset="77"/>
              </a:rPr>
              <a:t>TensorRT</a:t>
            </a:r>
            <a:r>
              <a:rPr lang="en-GB" sz="2400" dirty="0">
                <a:solidFill>
                  <a:srgbClr val="792530"/>
                </a:solidFill>
                <a:latin typeface="Montserrat Light" pitchFamily="2" charset="77"/>
              </a:rPr>
              <a:t> Deployment for the live 40ms simulation</a:t>
            </a:r>
            <a:endParaRPr lang="en" sz="2400" dirty="0">
              <a:solidFill>
                <a:srgbClr val="792530"/>
              </a:solidFill>
              <a:latin typeface="Montserra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1119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678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 Light</vt:lpstr>
      <vt:lpstr>Montserrat Light</vt:lpstr>
      <vt:lpstr>Calibri</vt:lpstr>
      <vt:lpstr>Montserrat</vt:lpstr>
      <vt:lpstr>Huni_Quorum Medium BT_cracked</vt:lpstr>
      <vt:lpstr>Office Theme</vt:lpstr>
      <vt:lpstr>AI-Based Road User Detection Using Traffic-Monitoring Radar</vt:lpstr>
      <vt:lpstr>To be presented on 27/05/2026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Pintér László Áron</dc:creator>
  <cp:lastModifiedBy>Tompos Gábor</cp:lastModifiedBy>
  <cp:revision>66</cp:revision>
  <dcterms:created xsi:type="dcterms:W3CDTF">2025-02-26T11:31:34Z</dcterms:created>
  <dcterms:modified xsi:type="dcterms:W3CDTF">2026-05-25T20:39:08Z</dcterms:modified>
</cp:coreProperties>
</file>