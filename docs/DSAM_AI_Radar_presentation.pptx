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53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3" r:id="rId4"/>
    <p:sldMasterId id="2147483715" r:id="rId5"/>
  </p:sldMasterIdLst>
  <p:notesMasterIdLst>
    <p:notesMasterId r:id="rId22"/>
  </p:notesMasterIdLst>
  <p:sldIdLst>
    <p:sldId id="317" r:id="rId6"/>
    <p:sldId id="287" r:id="rId7"/>
    <p:sldId id="307" r:id="rId8"/>
    <p:sldId id="309" r:id="rId9"/>
    <p:sldId id="358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65" r:id="rId21"/>
  </p:sldIdLst>
  <p:sldSz cx="12192000" cy="6858000"/>
  <p:notesSz cx="6858000" cy="9144000"/>
  <p:custDataLst>
    <p:tags r:id="rId23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96E"/>
    <a:srgbClr val="0066CC"/>
    <a:srgbClr val="CF68FF"/>
    <a:srgbClr val="E96C68"/>
    <a:srgbClr val="E16CB3"/>
    <a:srgbClr val="E3924B"/>
    <a:srgbClr val="6898EB"/>
    <a:srgbClr val="C4C4C4"/>
    <a:srgbClr val="84BC49"/>
    <a:srgbClr val="71A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3"/>
    <p:restoredTop sz="76634" autoAdjust="0"/>
  </p:normalViewPr>
  <p:slideViewPr>
    <p:cSldViewPr snapToGrid="0">
      <p:cViewPr varScale="1">
        <p:scale>
          <a:sx n="63" d="100"/>
          <a:sy n="63" d="100"/>
        </p:scale>
        <p:origin x="1032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A6474-96D5-4D3C-A847-1B13DDB08768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DA488-5CFD-46D7-AF55-57563128E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75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rukawa.co.jp/e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hu-HU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47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hu-HU" altLang="ja-JP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Furukawa Electric</a:t>
            </a:r>
            <a:r>
              <a:rPr lang="hu-HU" altLang="ja-JP" dirty="0"/>
              <a:t>, </a:t>
            </a:r>
            <a:r>
              <a:rPr lang="hu-HU" altLang="ja-JP" dirty="0" err="1"/>
              <a:t>one</a:t>
            </a:r>
            <a:r>
              <a:rPr lang="hu-HU" altLang="ja-JP" dirty="0"/>
              <a:t> of </a:t>
            </a:r>
            <a:r>
              <a:rPr lang="hu-HU" altLang="ja-JP" dirty="0" err="1"/>
              <a:t>Japan's</a:t>
            </a:r>
            <a:r>
              <a:rPr lang="hu-HU" altLang="ja-JP" dirty="0"/>
              <a:t> most </a:t>
            </a:r>
            <a:r>
              <a:rPr lang="hu-HU" altLang="ja-JP" dirty="0" err="1"/>
              <a:t>historically</a:t>
            </a:r>
            <a:r>
              <a:rPr lang="hu-HU" altLang="ja-JP" dirty="0"/>
              <a:t> </a:t>
            </a:r>
            <a:r>
              <a:rPr lang="hu-HU" altLang="ja-JP" dirty="0" err="1"/>
              <a:t>significant</a:t>
            </a:r>
            <a:r>
              <a:rPr lang="hu-HU" altLang="ja-JP" dirty="0"/>
              <a:t> and </a:t>
            </a:r>
            <a:r>
              <a:rPr lang="hu-HU" altLang="ja-JP" dirty="0" err="1"/>
              <a:t>prestigious</a:t>
            </a:r>
            <a:r>
              <a:rPr lang="hu-HU" altLang="ja-JP" dirty="0"/>
              <a:t> </a:t>
            </a:r>
            <a:r>
              <a:rPr lang="hu-HU" altLang="ja-JP" dirty="0" err="1"/>
              <a:t>companies</a:t>
            </a:r>
            <a:r>
              <a:rPr lang="hu-HU" altLang="ja-JP" dirty="0"/>
              <a:t>, </a:t>
            </a:r>
            <a:r>
              <a:rPr lang="hu-HU" altLang="ja-JP" dirty="0" err="1"/>
              <a:t>focuses</a:t>
            </a:r>
            <a:r>
              <a:rPr lang="hu-HU" altLang="ja-JP" dirty="0"/>
              <a:t> </a:t>
            </a:r>
            <a:r>
              <a:rPr lang="hu-HU" altLang="ja-JP" dirty="0" err="1"/>
              <a:t>on</a:t>
            </a:r>
            <a:r>
              <a:rPr lang="hu-HU" altLang="ja-JP" dirty="0"/>
              <a:t> </a:t>
            </a:r>
            <a:r>
              <a:rPr lang="hu-HU" altLang="ja-JP" dirty="0" err="1"/>
              <a:t>four</a:t>
            </a:r>
            <a:r>
              <a:rPr lang="hu-HU" altLang="ja-JP" dirty="0"/>
              <a:t> </a:t>
            </a:r>
            <a:r>
              <a:rPr lang="hu-HU" altLang="ja-JP" dirty="0" err="1"/>
              <a:t>core</a:t>
            </a:r>
            <a:r>
              <a:rPr lang="hu-HU" altLang="ja-JP" dirty="0"/>
              <a:t> </a:t>
            </a:r>
            <a:r>
              <a:rPr lang="hu-HU" altLang="ja-JP" dirty="0" err="1"/>
              <a:t>technologies</a:t>
            </a:r>
            <a:r>
              <a:rPr lang="hu-HU" altLang="ja-JP" dirty="0"/>
              <a:t>: </a:t>
            </a:r>
            <a:r>
              <a:rPr lang="hu-HU" altLang="ja-JP" b="1" dirty="0" err="1"/>
              <a:t>metals</a:t>
            </a:r>
            <a:r>
              <a:rPr lang="hu-HU" altLang="ja-JP" b="1" dirty="0"/>
              <a:t>, </a:t>
            </a:r>
            <a:r>
              <a:rPr lang="hu-HU" altLang="ja-JP" b="1" dirty="0" err="1"/>
              <a:t>polymers</a:t>
            </a:r>
            <a:r>
              <a:rPr lang="hu-HU" altLang="ja-JP" b="1" dirty="0"/>
              <a:t>, </a:t>
            </a:r>
            <a:r>
              <a:rPr lang="hu-HU" altLang="ja-JP" b="1" dirty="0" err="1"/>
              <a:t>photonics</a:t>
            </a:r>
            <a:r>
              <a:rPr lang="hu-HU" altLang="ja-JP" b="1" dirty="0"/>
              <a:t>, </a:t>
            </a:r>
            <a:r>
              <a:rPr lang="hu-HU" altLang="ja-JP" dirty="0"/>
              <a:t>and </a:t>
            </a:r>
            <a:r>
              <a:rPr lang="hu-HU" altLang="ja-JP" b="1" dirty="0" err="1"/>
              <a:t>high</a:t>
            </a:r>
            <a:r>
              <a:rPr lang="hu-HU" altLang="ja-JP" b="1" dirty="0"/>
              <a:t> </a:t>
            </a:r>
            <a:r>
              <a:rPr lang="hu-HU" altLang="ja-JP" b="1" dirty="0" err="1"/>
              <a:t>frequency</a:t>
            </a:r>
            <a:r>
              <a:rPr lang="hu-HU" altLang="ja-JP" dirty="0"/>
              <a:t>. </a:t>
            </a:r>
            <a:endParaRPr lang="en-US" altLang="ja-JP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Founded</a:t>
            </a:r>
            <a:r>
              <a:rPr lang="hu-HU" dirty="0"/>
              <a:t> in 1884,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now</a:t>
            </a:r>
            <a:r>
              <a:rPr lang="hu-HU" dirty="0"/>
              <a:t> has more </a:t>
            </a:r>
            <a:r>
              <a:rPr lang="hu-HU" dirty="0" err="1"/>
              <a:t>than</a:t>
            </a:r>
            <a:r>
              <a:rPr lang="hu-HU" dirty="0"/>
              <a:t> 50,000 </a:t>
            </a:r>
            <a:r>
              <a:rPr lang="hu-HU" dirty="0" err="1"/>
              <a:t>employees</a:t>
            </a:r>
            <a:r>
              <a:rPr lang="hu-HU" dirty="0"/>
              <a:t> </a:t>
            </a:r>
            <a:r>
              <a:rPr lang="hu-HU" dirty="0" err="1"/>
              <a:t>worldwide</a:t>
            </a:r>
            <a:r>
              <a:rPr lang="hu-HU" dirty="0"/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hu-HU" dirty="0">
              <a:cs typeface="Arial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41F3FD-5D3F-4975-9E70-A94F01DECA29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37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4 core technologies of metals, polymers, photonics and high frequency</a:t>
            </a:r>
            <a:endParaRPr lang="hu-HU" altLang="ja-JP" sz="1200" dirty="0">
              <a:solidFill>
                <a:srgbClr val="40404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wide range of products in the 3 business segments of </a:t>
            </a:r>
            <a:endParaRPr lang="hu-HU" altLang="ja-JP" sz="1200" dirty="0">
              <a:solidFill>
                <a:srgbClr val="40404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Infrastructure (Communications Solutions, Energy Infrastructure), </a:t>
            </a:r>
            <a:endParaRPr lang="hu-HU" altLang="ja-JP" sz="1200" dirty="0">
              <a:solidFill>
                <a:srgbClr val="40404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Electronics &amp; Automotive Systems</a:t>
            </a:r>
            <a:r>
              <a:rPr lang="ja-JP" altLang="en-US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(Automotive Products &amp; Batteries, Electronics Component Materials) </a:t>
            </a:r>
            <a:endParaRPr lang="hu-HU" altLang="ja-JP" sz="1200" dirty="0">
              <a:solidFill>
                <a:srgbClr val="40404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ja-JP" sz="1200" dirty="0">
                <a:solidFill>
                  <a:srgbClr val="40404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and Functional Products</a:t>
            </a:r>
            <a:endParaRPr kumimoji="1" lang="hu-HU" altLang="ja-JP" dirty="0"/>
          </a:p>
          <a:p>
            <a:r>
              <a:rPr kumimoji="1" lang="hu-HU" altLang="ja-JP" dirty="0"/>
              <a:t>The business </a:t>
            </a:r>
            <a:r>
              <a:rPr kumimoji="1" lang="hu-HU" altLang="ja-JP" dirty="0" err="1"/>
              <a:t>started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with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electrical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cables</a:t>
            </a:r>
            <a:r>
              <a:rPr kumimoji="1" lang="hu-HU" altLang="ja-JP" dirty="0"/>
              <a:t> and non-</a:t>
            </a:r>
            <a:r>
              <a:rPr kumimoji="1" lang="hu-HU" altLang="ja-JP" dirty="0" err="1"/>
              <a:t>ferrous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metals</a:t>
            </a:r>
            <a:r>
              <a:rPr kumimoji="1" lang="hu-HU" altLang="ja-JP" dirty="0"/>
              <a:t> and has </a:t>
            </a:r>
            <a:r>
              <a:rPr kumimoji="1" lang="hu-HU" altLang="ja-JP" dirty="0" err="1"/>
              <a:t>expanded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into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areas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such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telecommunications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electronics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new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materials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automotive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parts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components</a:t>
            </a:r>
            <a:r>
              <a:rPr kumimoji="1" lang="hu-HU" altLang="ja-JP" dirty="0"/>
              <a:t>.</a:t>
            </a:r>
            <a:br>
              <a:rPr kumimoji="1" lang="hu-HU" altLang="ja-JP" dirty="0"/>
            </a:br>
            <a:br>
              <a:rPr kumimoji="1" lang="hu-HU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41F3FD-5D3F-4975-9E70-A94F01DECA29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548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main products are related to telecommunications, energy, automotive, electronics and construction.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41F3FD-5D3F-4975-9E70-A94F01DECA29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462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hu-HU" altLang="ja-JP" dirty="0"/>
              <a:t>R&amp;D </a:t>
            </a:r>
            <a:r>
              <a:rPr kumimoji="1" lang="hu-HU" altLang="ja-JP" dirty="0" err="1"/>
              <a:t>activity</a:t>
            </a:r>
            <a:r>
              <a:rPr kumimoji="1" lang="hu-HU" altLang="ja-JP" dirty="0"/>
              <a:t> is </a:t>
            </a:r>
            <a:r>
              <a:rPr kumimoji="1" lang="hu-HU" altLang="ja-JP" dirty="0" err="1"/>
              <a:t>mainly</a:t>
            </a:r>
            <a:r>
              <a:rPr kumimoji="1" lang="hu-HU" altLang="ja-JP" dirty="0"/>
              <a:t> in </a:t>
            </a:r>
            <a:r>
              <a:rPr kumimoji="1" lang="hu-HU" altLang="ja-JP" dirty="0" err="1"/>
              <a:t>Japan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but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there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some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interests</a:t>
            </a:r>
            <a:r>
              <a:rPr kumimoji="1" lang="hu-HU" altLang="ja-JP" dirty="0"/>
              <a:t> in </a:t>
            </a:r>
            <a:r>
              <a:rPr kumimoji="1" lang="hu-HU" altLang="ja-JP" dirty="0" err="1"/>
              <a:t>North</a:t>
            </a:r>
            <a:r>
              <a:rPr kumimoji="1" lang="hu-HU" altLang="ja-JP" dirty="0"/>
              <a:t> and South </a:t>
            </a:r>
            <a:r>
              <a:rPr kumimoji="1" lang="hu-HU" altLang="ja-JP" dirty="0" err="1"/>
              <a:t>America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where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research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development</a:t>
            </a:r>
            <a:r>
              <a:rPr kumimoji="1" lang="hu-HU" altLang="ja-JP" dirty="0"/>
              <a:t> is </a:t>
            </a:r>
            <a:r>
              <a:rPr kumimoji="1" lang="hu-HU" altLang="ja-JP" dirty="0" err="1"/>
              <a:t>also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taking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place</a:t>
            </a:r>
            <a:r>
              <a:rPr kumimoji="1" lang="hu-HU" altLang="ja-JP" dirty="0"/>
              <a:t>. </a:t>
            </a:r>
          </a:p>
          <a:p>
            <a:r>
              <a:rPr kumimoji="1" lang="hu-HU" altLang="ja-JP" dirty="0"/>
              <a:t>And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only</a:t>
            </a:r>
            <a:r>
              <a:rPr kumimoji="1" lang="hu-HU" altLang="ja-JP" dirty="0"/>
              <a:t> centre in Europe </a:t>
            </a:r>
            <a:r>
              <a:rPr kumimoji="1" lang="hu-HU" altLang="ja-JP" dirty="0" err="1"/>
              <a:t>that</a:t>
            </a:r>
            <a:r>
              <a:rPr kumimoji="1" lang="hu-HU" altLang="ja-JP" dirty="0"/>
              <a:t> is </a:t>
            </a:r>
            <a:r>
              <a:rPr kumimoji="1" lang="hu-HU" altLang="ja-JP" dirty="0" err="1"/>
              <a:t>specifically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dedicated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to</a:t>
            </a:r>
            <a:r>
              <a:rPr kumimoji="1" lang="hu-HU" altLang="ja-JP" dirty="0"/>
              <a:t> R&amp;D is </a:t>
            </a:r>
            <a:r>
              <a:rPr kumimoji="1" lang="hu-HU" altLang="ja-JP" dirty="0" err="1"/>
              <a:t>Furukawa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Electric</a:t>
            </a:r>
            <a:r>
              <a:rPr kumimoji="1" lang="hu-HU" altLang="ja-JP" dirty="0"/>
              <a:t> Institute of </a:t>
            </a:r>
            <a:r>
              <a:rPr kumimoji="1" lang="hu-HU" altLang="ja-JP" dirty="0" err="1"/>
              <a:t>Technology</a:t>
            </a:r>
            <a:r>
              <a:rPr kumimoji="1" lang="hu-HU" altLang="ja-JP" dirty="0"/>
              <a:t> in Budapest, 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50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9AB9-F237-BC16-3404-67FA4C2E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27CED0C-6BDA-816E-A376-919C179DF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6A99BE7-594B-C0F5-EE05-C509653B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hu-HU" altLang="ja-JP" dirty="0"/>
              <a:t>FETI has a </a:t>
            </a:r>
            <a:r>
              <a:rPr kumimoji="1" lang="hu-HU" altLang="ja-JP" dirty="0" err="1"/>
              <a:t>history</a:t>
            </a:r>
            <a:r>
              <a:rPr kumimoji="1" lang="hu-HU" altLang="ja-JP" dirty="0"/>
              <a:t> of more </a:t>
            </a:r>
            <a:r>
              <a:rPr kumimoji="1" lang="hu-HU" altLang="ja-JP" dirty="0" err="1"/>
              <a:t>than</a:t>
            </a:r>
            <a:r>
              <a:rPr kumimoji="1" lang="hu-HU" altLang="ja-JP" dirty="0"/>
              <a:t> 30 </a:t>
            </a:r>
            <a:r>
              <a:rPr kumimoji="1" lang="hu-HU" altLang="ja-JP" dirty="0" err="1"/>
              <a:t>years</a:t>
            </a:r>
            <a:r>
              <a:rPr kumimoji="1" lang="hu-HU" altLang="ja-JP" dirty="0"/>
              <a:t>.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have</a:t>
            </a:r>
            <a:r>
              <a:rPr kumimoji="1" lang="hu-HU" altLang="ja-JP" dirty="0"/>
              <a:t> more </a:t>
            </a:r>
            <a:r>
              <a:rPr kumimoji="1" lang="hu-HU" altLang="ja-JP" dirty="0" err="1"/>
              <a:t>than</a:t>
            </a:r>
            <a:r>
              <a:rPr kumimoji="1" lang="hu-HU" altLang="ja-JP" dirty="0"/>
              <a:t> 50 </a:t>
            </a:r>
            <a:r>
              <a:rPr kumimoji="1" lang="hu-HU" altLang="ja-JP" dirty="0" err="1"/>
              <a:t>highly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qualified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staff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working</a:t>
            </a:r>
            <a:r>
              <a:rPr kumimoji="1" lang="hu-HU" altLang="ja-JP" dirty="0"/>
              <a:t> in Budapest, </a:t>
            </a:r>
            <a:r>
              <a:rPr kumimoji="1" lang="hu-HU" altLang="ja-JP" dirty="0" err="1"/>
              <a:t>physicists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chemists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mechanical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engineers</a:t>
            </a:r>
            <a:r>
              <a:rPr kumimoji="1" lang="hu-HU" altLang="ja-JP" dirty="0"/>
              <a:t>.</a:t>
            </a:r>
          </a:p>
          <a:p>
            <a:r>
              <a:rPr kumimoji="1" lang="hu-HU" altLang="ja-JP" dirty="0" err="1"/>
              <a:t>So</a:t>
            </a:r>
            <a:r>
              <a:rPr kumimoji="1" lang="hu-HU" altLang="ja-JP" dirty="0"/>
              <a:t> far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have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mainly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served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R&amp;D </a:t>
            </a:r>
            <a:r>
              <a:rPr kumimoji="1" lang="hu-HU" altLang="ja-JP" dirty="0" err="1"/>
              <a:t>needs</a:t>
            </a:r>
            <a:r>
              <a:rPr kumimoji="1" lang="hu-HU" altLang="ja-JP" dirty="0"/>
              <a:t> of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parent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company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but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now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also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work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for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external</a:t>
            </a:r>
            <a:r>
              <a:rPr kumimoji="1" lang="hu-HU" altLang="ja-JP" dirty="0"/>
              <a:t> partners.</a:t>
            </a:r>
          </a:p>
          <a:p>
            <a:endParaRPr kumimoji="1" lang="hu-HU" altLang="ja-JP" dirty="0"/>
          </a:p>
          <a:p>
            <a:pPr algn="l"/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We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have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six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professional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groups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 The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simulation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department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is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one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oldest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It's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not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about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software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available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market,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but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about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colleagues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developing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their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own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computing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models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 The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researches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focus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semiconductor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physics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silicon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photonics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fiber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optics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signal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processing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related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solutions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related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fields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including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telecommunications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wireless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energy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transfer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optical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semiconductor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devices</a:t>
            </a:r>
            <a:endParaRPr lang="hu-HU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kumimoji="1" lang="hu-HU" altLang="ja-JP" dirty="0"/>
              <a:t>The </a:t>
            </a:r>
            <a:r>
              <a:rPr kumimoji="1" lang="hu-HU" altLang="ja-JP" dirty="0" err="1"/>
              <a:t>autommotive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group</a:t>
            </a:r>
            <a:r>
              <a:rPr kumimoji="1" lang="hu-HU" altLang="ja-JP" dirty="0"/>
              <a:t> is </a:t>
            </a:r>
            <a:r>
              <a:rPr kumimoji="1" lang="hu-HU" altLang="ja-JP" dirty="0" err="1"/>
              <a:t>involved</a:t>
            </a:r>
            <a:r>
              <a:rPr kumimoji="1" lang="hu-HU" altLang="ja-JP" dirty="0"/>
              <a:t> in radar </a:t>
            </a:r>
            <a:r>
              <a:rPr kumimoji="1" lang="hu-HU" altLang="ja-JP" dirty="0" err="1"/>
              <a:t>development</a:t>
            </a:r>
            <a:r>
              <a:rPr kumimoji="1" lang="hu-HU" altLang="ja-JP" dirty="0"/>
              <a:t>, radar </a:t>
            </a:r>
            <a:r>
              <a:rPr kumimoji="1" lang="hu-HU" altLang="ja-JP" dirty="0" err="1"/>
              <a:t>signal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processing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battery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sensor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development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also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V2X.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also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have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two</a:t>
            </a:r>
            <a:r>
              <a:rPr kumimoji="1" lang="hu-HU" altLang="ja-JP" dirty="0"/>
              <a:t> test </a:t>
            </a:r>
            <a:r>
              <a:rPr kumimoji="1" lang="hu-HU" altLang="ja-JP" dirty="0" err="1"/>
              <a:t>cars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collect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data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on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roads</a:t>
            </a:r>
            <a:r>
              <a:rPr kumimoji="1" lang="hu-HU" altLang="ja-JP" dirty="0"/>
              <a:t> of Europe.</a:t>
            </a:r>
          </a:p>
          <a:p>
            <a:r>
              <a:rPr kumimoji="1" lang="hu-HU" altLang="ja-JP" dirty="0"/>
              <a:t>Advanced </a:t>
            </a:r>
            <a:r>
              <a:rPr kumimoji="1" lang="hu-HU" altLang="ja-JP" dirty="0" err="1"/>
              <a:t>Material</a:t>
            </a:r>
            <a:r>
              <a:rPr kumimoji="1" lang="hu-HU" altLang="ja-JP" dirty="0"/>
              <a:t> Group has a </a:t>
            </a:r>
            <a:r>
              <a:rPr kumimoji="1" lang="hu-HU" altLang="ja-JP" dirty="0" err="1"/>
              <a:t>lot</a:t>
            </a:r>
            <a:r>
              <a:rPr kumimoji="1" lang="hu-HU" altLang="ja-JP" dirty="0"/>
              <a:t> of </a:t>
            </a:r>
            <a:r>
              <a:rPr kumimoji="1" lang="hu-HU" altLang="ja-JP" dirty="0" err="1"/>
              <a:t>knowledge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about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polymers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they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developing</a:t>
            </a:r>
            <a:r>
              <a:rPr kumimoji="1" lang="hu-HU" altLang="ja-JP" dirty="0"/>
              <a:t> a </a:t>
            </a:r>
            <a:r>
              <a:rPr kumimoji="1" lang="hu-HU" altLang="ja-JP" dirty="0" err="1"/>
              <a:t>superhydrophobic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material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they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can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laser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weld</a:t>
            </a:r>
            <a:r>
              <a:rPr kumimoji="1" lang="hu-HU" altLang="ja-JP" dirty="0"/>
              <a:t> a </a:t>
            </a:r>
            <a:r>
              <a:rPr kumimoji="1" lang="hu-HU" altLang="ja-JP" dirty="0" err="1"/>
              <a:t>wide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variety</a:t>
            </a:r>
            <a:r>
              <a:rPr kumimoji="1" lang="hu-HU" altLang="ja-JP" dirty="0"/>
              <a:t> of </a:t>
            </a:r>
            <a:r>
              <a:rPr kumimoji="1" lang="hu-HU" altLang="ja-JP" dirty="0" err="1"/>
              <a:t>materials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together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have</a:t>
            </a:r>
            <a:r>
              <a:rPr kumimoji="1" lang="hu-HU" altLang="ja-JP" dirty="0"/>
              <a:t> a </a:t>
            </a:r>
            <a:r>
              <a:rPr kumimoji="1" lang="hu-HU" altLang="ja-JP" dirty="0" err="1"/>
              <a:t>very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promising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recycling</a:t>
            </a:r>
            <a:r>
              <a:rPr kumimoji="1" lang="hu-HU" altLang="ja-JP" dirty="0"/>
              <a:t> project </a:t>
            </a:r>
            <a:r>
              <a:rPr kumimoji="1" lang="hu-HU" altLang="ja-JP" dirty="0" err="1"/>
              <a:t>where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we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developing</a:t>
            </a:r>
            <a:r>
              <a:rPr kumimoji="1" lang="hu-HU" altLang="ja-JP" dirty="0"/>
              <a:t> a </a:t>
            </a:r>
            <a:r>
              <a:rPr kumimoji="1" lang="hu-HU" altLang="ja-JP" dirty="0" err="1"/>
              <a:t>really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high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quality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material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by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recycling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milk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beverage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cartons</a:t>
            </a:r>
            <a:r>
              <a:rPr kumimoji="1" lang="hu-HU" altLang="ja-JP" dirty="0"/>
              <a:t>.</a:t>
            </a:r>
          </a:p>
          <a:p>
            <a:r>
              <a:rPr kumimoji="1" lang="hu-HU" altLang="ja-JP" dirty="0" err="1"/>
              <a:t>Our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Nanomaterials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group</a:t>
            </a:r>
            <a:r>
              <a:rPr kumimoji="1" lang="hu-HU" altLang="ja-JP" dirty="0"/>
              <a:t> is </a:t>
            </a:r>
            <a:r>
              <a:rPr kumimoji="1" lang="hu-HU" altLang="ja-JP" dirty="0" err="1"/>
              <a:t>developing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at</a:t>
            </a:r>
            <a:r>
              <a:rPr kumimoji="1" lang="hu-HU" altLang="ja-JP" dirty="0"/>
              <a:t> almost </a:t>
            </a:r>
            <a:r>
              <a:rPr kumimoji="1" lang="hu-HU" altLang="ja-JP" dirty="0" err="1"/>
              <a:t>academic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level</a:t>
            </a:r>
            <a:r>
              <a:rPr kumimoji="1" lang="hu-HU" altLang="ja-JP" dirty="0"/>
              <a:t>, building a </a:t>
            </a:r>
            <a:r>
              <a:rPr kumimoji="1" lang="hu-HU" altLang="ja-JP" dirty="0" err="1"/>
              <a:t>reactor</a:t>
            </a:r>
            <a:r>
              <a:rPr kumimoji="1" lang="hu-HU" altLang="ja-JP" dirty="0"/>
              <a:t> and </a:t>
            </a:r>
            <a:r>
              <a:rPr kumimoji="1" lang="hu-HU" altLang="ja-JP" dirty="0" err="1"/>
              <a:t>developing</a:t>
            </a:r>
            <a:r>
              <a:rPr kumimoji="1" lang="hu-HU" altLang="ja-JP" dirty="0"/>
              <a:t> a </a:t>
            </a:r>
            <a:r>
              <a:rPr kumimoji="1" lang="hu-HU" altLang="ja-JP" dirty="0" err="1"/>
              <a:t>new</a:t>
            </a:r>
            <a:r>
              <a:rPr kumimoji="1" lang="hu-HU" altLang="ja-JP" dirty="0"/>
              <a:t> CO2 </a:t>
            </a:r>
            <a:r>
              <a:rPr kumimoji="1" lang="hu-HU" altLang="ja-JP" dirty="0" err="1"/>
              <a:t>capture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material</a:t>
            </a:r>
            <a:r>
              <a:rPr kumimoji="1" lang="hu-HU" altLang="ja-JP" dirty="0"/>
              <a:t>. </a:t>
            </a:r>
          </a:p>
          <a:p>
            <a:r>
              <a:rPr kumimoji="1" lang="hu-HU" altLang="ja-JP" dirty="0"/>
              <a:t>And </a:t>
            </a:r>
            <a:r>
              <a:rPr kumimoji="1" lang="hu-HU" altLang="ja-JP" dirty="0" err="1"/>
              <a:t>our</a:t>
            </a:r>
            <a:r>
              <a:rPr kumimoji="1" lang="hu-HU" altLang="ja-JP" dirty="0"/>
              <a:t> AI team is </a:t>
            </a:r>
            <a:r>
              <a:rPr kumimoji="1" lang="hu-HU" altLang="ja-JP" dirty="0" err="1"/>
              <a:t>not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riding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on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the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current</a:t>
            </a:r>
            <a:r>
              <a:rPr kumimoji="1" lang="hu-HU" altLang="ja-JP" dirty="0"/>
              <a:t> GEN AI </a:t>
            </a:r>
            <a:r>
              <a:rPr kumimoji="1" lang="hu-HU" altLang="ja-JP" dirty="0" err="1"/>
              <a:t>hype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but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rather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delivering</a:t>
            </a:r>
            <a:r>
              <a:rPr kumimoji="1" lang="hu-HU" altLang="ja-JP" dirty="0"/>
              <a:t> AI-</a:t>
            </a:r>
            <a:r>
              <a:rPr kumimoji="1" lang="hu-HU" altLang="ja-JP" dirty="0" err="1"/>
              <a:t>based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solutions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mainly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quality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control</a:t>
            </a:r>
            <a:r>
              <a:rPr kumimoji="1" lang="hu-HU" altLang="ja-JP" dirty="0"/>
              <a:t>, </a:t>
            </a:r>
            <a:r>
              <a:rPr kumimoji="1" lang="hu-HU" altLang="ja-JP" dirty="0" err="1"/>
              <a:t>that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can</a:t>
            </a:r>
            <a:r>
              <a:rPr kumimoji="1" lang="hu-HU" altLang="ja-JP" dirty="0"/>
              <a:t> be </a:t>
            </a:r>
            <a:r>
              <a:rPr kumimoji="1" lang="hu-HU" altLang="ja-JP" dirty="0" err="1"/>
              <a:t>built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into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manufacturing</a:t>
            </a:r>
            <a:r>
              <a:rPr kumimoji="1" lang="hu-HU" altLang="ja-JP" dirty="0"/>
              <a:t> </a:t>
            </a:r>
            <a:r>
              <a:rPr kumimoji="1" lang="hu-HU" altLang="ja-JP" dirty="0" err="1"/>
              <a:t>processes</a:t>
            </a:r>
            <a:r>
              <a:rPr kumimoji="1" lang="hu-HU" altLang="ja-JP" dirty="0"/>
              <a:t>.</a:t>
            </a:r>
            <a:endParaRPr kumimoji="1" lang="ja-JP" altLang="en-US"/>
          </a:p>
          <a:p>
            <a:endParaRPr lang="en-GB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3234D8B-94BE-F691-CAD7-3B5924C1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575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276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14 </a:t>
            </a:r>
            <a:r>
              <a:rPr lang="hu-HU" dirty="0" err="1"/>
              <a:t>tasks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0907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hu-H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</a:t>
            </a:r>
            <a:r>
              <a:rPr kumimoji="1" lang="hu-H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(Long </a:t>
            </a:r>
            <a:r>
              <a:rPr kumimoji="1" lang="hu-H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</a:t>
            </a:r>
            <a:r>
              <a:rPr kumimoji="1" lang="hu-H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-Term </a:t>
            </a:r>
            <a:r>
              <a:rPr kumimoji="1" lang="hu-H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kumimoji="1" lang="hu-H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hu-HU" dirty="0"/>
              <a:t> egy speciális, </a:t>
            </a:r>
            <a:r>
              <a:rPr lang="hu-HU" dirty="0" err="1"/>
              <a:t>rekurrens</a:t>
            </a:r>
            <a:r>
              <a:rPr lang="hu-HU" dirty="0"/>
              <a:t> neurális hálózat (RNN), szekvenciális adatok – mint idősorok, szöveg vagy beszéd – feldolgozására terveztek</a:t>
            </a:r>
          </a:p>
          <a:p>
            <a:endParaRPr lang="hu-HU" dirty="0"/>
          </a:p>
          <a:p>
            <a:r>
              <a:rPr lang="hu-HU" dirty="0" err="1"/>
              <a:t>PointNet</a:t>
            </a:r>
            <a:r>
              <a:rPr lang="hu-HU" dirty="0"/>
              <a:t> - mélytanulási architektúra, közvetlenül a 3D pontfelhőket (</a:t>
            </a:r>
            <a:r>
              <a:rPr lang="hu-HU" dirty="0" err="1"/>
              <a:t>point</a:t>
            </a:r>
            <a:r>
              <a:rPr lang="hu-HU" dirty="0"/>
              <a:t> </a:t>
            </a:r>
            <a:r>
              <a:rPr lang="hu-HU" dirty="0" err="1"/>
              <a:t>clouds</a:t>
            </a:r>
            <a:r>
              <a:rPr lang="hu-HU" dirty="0"/>
              <a:t>) dolgozza fel osztályozási, rész-szegmentálási és jelenet-szemantikai elemzési feladatokhoz.</a:t>
            </a:r>
          </a:p>
          <a:p>
            <a:endParaRPr lang="hu-HU" dirty="0"/>
          </a:p>
          <a:p>
            <a:r>
              <a:rPr kumimoji="1" lang="hu-H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kumimoji="1" lang="hu-H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PointPillars</a:t>
            </a:r>
            <a:r>
              <a:rPr lang="hu-HU" dirty="0"/>
              <a:t> egy népszerű mélytanulási módszer, amelyet a </a:t>
            </a:r>
            <a:r>
              <a:rPr kumimoji="1" lang="hu-H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objektumfelismerésre, </a:t>
            </a:r>
            <a:r>
              <a:rPr lang="hu-HU" dirty="0"/>
              <a:t>a sűrű 3D adatokat függőleges oszlopokba (pillérekbe) rendezi, amivel jelentősen felgyorsítja a feldolgozást. 3D pontfelhőt egy 2D-s "</a:t>
            </a:r>
            <a:r>
              <a:rPr lang="hu-HU" dirty="0" err="1"/>
              <a:t>pszeudo</a:t>
            </a:r>
            <a:r>
              <a:rPr lang="hu-HU" dirty="0"/>
              <a:t>-képpé" alakítja, így a már jól bevált 2D </a:t>
            </a:r>
            <a:r>
              <a:rPr lang="hu-HU" dirty="0" err="1"/>
              <a:t>konvolúciós</a:t>
            </a:r>
            <a:r>
              <a:rPr lang="hu-HU" dirty="0"/>
              <a:t> neurális hálózatok (CNN) is használhatóak a felismeréshez.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26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Thank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attention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stay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up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date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results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news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visit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website and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follow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us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LinkedIn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Let's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innovate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together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make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future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richer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achievements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!</a:t>
            </a:r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95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6.emf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oleObject" Target="../embeddings/oleObject4.bin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4.png"/><Relationship Id="rId5" Type="http://schemas.openxmlformats.org/officeDocument/2006/relationships/tags" Target="../tags/tag16.xml"/><Relationship Id="rId10" Type="http://schemas.openxmlformats.org/officeDocument/2006/relationships/image" Target="../media/image2.png"/><Relationship Id="rId4" Type="http://schemas.openxmlformats.org/officeDocument/2006/relationships/tags" Target="../tags/tag15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rukawa.co.jp/purpose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　電工表紙_Cover page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7B8A5A44-2056-4F3F-943A-3B90503750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DDFC9A-4202-4D27-A20A-D5A055FBCF22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6454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0FEC9-2881-4AD3-ACFC-C788314CF2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endParaRPr kumimoji="1"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738AD3-9FAD-4FF4-9EC3-F3F3F09C09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副題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AC85E-BCB2-48A0-872A-F357B79839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ja-JP" altLang="en-US"/>
              <a:t>表題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What</a:t>
            </a:r>
            <a:endParaRPr kumimoji="1" lang="ja-JP" alt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369459F-E5A4-4186-B5AB-753B4D23E6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4205841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担当・責任部署</a:t>
            </a:r>
            <a:endParaRPr kumimoji="1" lang="ru-RU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C078F0E-8909-4FA4-8F17-0F3461B04D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4529963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担当・責任者名</a:t>
            </a:r>
            <a:endParaRPr kumimoji="1" lang="ru-RU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DD65AA4-FAD5-4CC5-8E2C-7B9548E828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ja-JP" altLang="en-US"/>
              <a:t>資料情報</a:t>
            </a:r>
            <a:endParaRPr kumimoji="1" lang="en-US" altLang="ja-JP"/>
          </a:p>
        </p:txBody>
      </p:sp>
      <p:grpSp>
        <p:nvGrpSpPr>
          <p:cNvPr id="17" name="Group 13">
            <a:extLst>
              <a:ext uri="{FF2B5EF4-FFF2-40B4-BE49-F238E27FC236}">
                <a16:creationId xmlns:a16="http://schemas.microsoft.com/office/drawing/2014/main" id="{C483E065-BEC6-4D8F-B9AA-4EA2736581A4}"/>
              </a:ext>
            </a:extLst>
          </p:cNvPr>
          <p:cNvGrpSpPr/>
          <p:nvPr userDrawn="1"/>
        </p:nvGrpSpPr>
        <p:grpSpPr>
          <a:xfrm>
            <a:off x="539999" y="287771"/>
            <a:ext cx="11196001" cy="317291"/>
            <a:chOff x="539999" y="287771"/>
            <a:chExt cx="11196001" cy="317291"/>
          </a:xfrm>
        </p:grpSpPr>
        <p:pic>
          <p:nvPicPr>
            <p:cNvPr id="18" name="Graphic 14">
              <a:extLst>
                <a:ext uri="{FF2B5EF4-FFF2-40B4-BE49-F238E27FC236}">
                  <a16:creationId xmlns:a16="http://schemas.microsoft.com/office/drawing/2014/main" id="{8FA41B20-986E-43AF-A0F5-F5EA42676F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9999" y="287771"/>
              <a:ext cx="1660235" cy="280800"/>
            </a:xfrm>
            <a:prstGeom prst="rect">
              <a:avLst/>
            </a:prstGeom>
          </p:spPr>
        </p:pic>
        <p:pic>
          <p:nvPicPr>
            <p:cNvPr id="19" name="Picture 16">
              <a:extLst>
                <a:ext uri="{FF2B5EF4-FFF2-40B4-BE49-F238E27FC236}">
                  <a16:creationId xmlns:a16="http://schemas.microsoft.com/office/drawing/2014/main" id="{601C252E-8F4A-41FB-89AD-D2F4BB8C14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4800" y="300187"/>
              <a:ext cx="1951200" cy="304875"/>
            </a:xfrm>
            <a:prstGeom prst="rect">
              <a:avLst/>
            </a:prstGeom>
          </p:spPr>
        </p:pic>
      </p:grpSp>
      <p:sp>
        <p:nvSpPr>
          <p:cNvPr id="20" name="TextBox 29">
            <a:extLst>
              <a:ext uri="{FF2B5EF4-FFF2-40B4-BE49-F238E27FC236}">
                <a16:creationId xmlns:a16="http://schemas.microsoft.com/office/drawing/2014/main" id="{022B54D0-9BD9-4768-B11F-6D7CDAF2BDBF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347256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　グループ表紙_Cover pag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E07F20E-1700-4921-16A9-7FAFF3A1A2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A99BE95-3589-439C-AC59-184B18B84FED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8" name="Picture 16">
            <a:extLst>
              <a:ext uri="{FF2B5EF4-FFF2-40B4-BE49-F238E27FC236}">
                <a16:creationId xmlns:a16="http://schemas.microsoft.com/office/drawing/2014/main" id="{60C6259C-8F67-454B-8434-0CCA248AB3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244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DD65AA4-FAD5-4CC5-8E2C-7B9548E8284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ja-JP" altLang="en-US"/>
              <a:t>資料情報</a:t>
            </a:r>
            <a:endParaRPr kumimoji="1"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02E478D-1F0C-413B-BAE0-020F5A208F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endParaRPr kumimoji="1" lang="ru-RU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92B2857-1318-4F01-8B4D-E80C0897CE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副題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95D8FED-46C9-412D-9811-AB9276BF0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ja-JP" altLang="en-US"/>
              <a:t>表題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What</a:t>
            </a:r>
            <a:endParaRPr kumimoji="1" lang="ja-JP" alt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05092CD-3351-4DB8-8AA6-726BEF54C0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4205841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担当・責任部署</a:t>
            </a:r>
            <a:endParaRPr kumimoji="1" lang="ru-RU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A383ED1-382D-4FD6-B8E1-A1408E8590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4529963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担当・責任者名</a:t>
            </a:r>
            <a:endParaRPr kumimoji="1" lang="ru-RU"/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853D945E-DD7E-40B2-A8F6-20D046712318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24155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　英語表紙_Cover page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0C18B6F-F0BA-5AFA-E59A-F59936A468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DF84EE2-14CE-4A48-BC78-24A0AEF4E5FD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4" name="Picture 16">
            <a:extLst>
              <a:ext uri="{FF2B5EF4-FFF2-40B4-BE49-F238E27FC236}">
                <a16:creationId xmlns:a16="http://schemas.microsoft.com/office/drawing/2014/main" id="{778406C1-6956-44AE-B91A-2B3EDF0F7F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D1B84A-29A6-4E08-90AD-E69B2B3068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4204800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altLang="ja-JP" sz="1600"/>
              <a:t>Department in charge/responsible</a:t>
            </a:r>
            <a:endParaRPr lang="ja-JP" altLang="en-US" sz="160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7CDB286-188A-44B2-825F-931C1A819C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4528800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altLang="ja-JP" sz="1600"/>
              <a:t>Name of person in charge/responsible</a:t>
            </a:r>
            <a:endParaRPr lang="ja-JP" altLang="en-US" sz="16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0017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0FEC9-2881-4AD3-ACFC-C788314CF2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Date</a:t>
            </a:r>
            <a:endParaRPr kumimoji="1"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738AD3-9FAD-4FF4-9EC3-F3F3F09C09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Subtitle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AC85E-BCB2-48A0-872A-F357B79839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ja-JP"/>
              <a:t>Title – What</a:t>
            </a:r>
            <a:endParaRPr lang="ja-JP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6906C-4A9C-408B-AAF4-26F1A95C49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en-US"/>
              <a:t>Document information</a:t>
            </a:r>
            <a:endParaRPr kumimoji="1" lang="ru-RU"/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CB0DC31-07E1-49E6-B14F-740B34678F21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392338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 目次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1607F93-C910-4891-A5B3-7841C90F7ABF}"/>
              </a:ext>
            </a:extLst>
          </p:cNvPr>
          <p:cNvSpPr/>
          <p:nvPr userDrawn="1"/>
        </p:nvSpPr>
        <p:spPr>
          <a:xfrm>
            <a:off x="0" y="0"/>
            <a:ext cx="12192000" cy="97276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algn="l"/>
            <a:endParaRPr kumimoji="1" lang="ja-JP" altLang="en-US" sz="2800" b="0">
              <a:solidFill>
                <a:schemeClr val="bg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9600626-92A3-4B0F-99D1-5784F2819C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86940" t="12791" b="25699"/>
          <a:stretch/>
        </p:blipFill>
        <p:spPr>
          <a:xfrm>
            <a:off x="10783614" y="0"/>
            <a:ext cx="1409464" cy="6858000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6736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9">
            <a:extLst>
              <a:ext uri="{FF2B5EF4-FFF2-40B4-BE49-F238E27FC236}">
                <a16:creationId xmlns:a16="http://schemas.microsoft.com/office/drawing/2014/main" id="{3C801DF1-B95B-4868-A056-7C76ECAD9235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316EBF01-4286-46A4-BD4A-3864EEFE71DA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32C7D5-AE94-41A0-AC16-87301DB0882D}"/>
              </a:ext>
            </a:extLst>
          </p:cNvPr>
          <p:cNvSpPr txBox="1"/>
          <p:nvPr userDrawn="1"/>
        </p:nvSpPr>
        <p:spPr>
          <a:xfrm>
            <a:off x="630865" y="232138"/>
            <a:ext cx="316748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2800">
                <a:solidFill>
                  <a:schemeClr val="bg1"/>
                </a:solidFill>
              </a:rPr>
              <a:t>Agenda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9F1821-323C-410C-B1A5-2A53FC95C8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0864" y="1351092"/>
            <a:ext cx="9501495" cy="499592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l"/>
              <a:defRPr/>
            </a:lvl1pPr>
            <a:lvl2pPr marL="234000" indent="-234000" fontAlgn="ctr">
              <a:buFont typeface="Wingdings" panose="05000000000000000000" pitchFamily="2" charset="2"/>
              <a:buChar char="l"/>
              <a:defRPr sz="2400" b="1">
                <a:solidFill>
                  <a:srgbClr val="002F6C"/>
                </a:solidFill>
              </a:defRPr>
            </a:lvl2pPr>
            <a:lvl3pPr marL="468000" indent="-234000" fontAlgn="ctr">
              <a:buFont typeface="Arial" panose="020B0604020202020204" pitchFamily="34" charset="0"/>
              <a:buChar char="—"/>
              <a:defRPr sz="2400" b="0">
                <a:solidFill>
                  <a:srgbClr val="002F6C"/>
                </a:solidFill>
              </a:defRPr>
            </a:lvl3pPr>
            <a:lvl4pPr marL="711200" indent="-244475" fontAlgn="ctr">
              <a:buFont typeface="Wingdings" panose="05000000000000000000" pitchFamily="2" charset="2"/>
              <a:buChar char="n"/>
              <a:defRPr sz="2400" b="0">
                <a:solidFill>
                  <a:srgbClr val="002F6C"/>
                </a:solidFill>
              </a:defRPr>
            </a:lvl4pPr>
            <a:lvl5pPr marL="893763" marR="0" indent="-268288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 sz="2400" b="0">
                <a:solidFill>
                  <a:srgbClr val="002F6C"/>
                </a:solidFill>
              </a:defRPr>
            </a:lvl5pPr>
          </a:lstStyle>
          <a:p>
            <a:pPr lvl="1"/>
            <a:r>
              <a:rPr kumimoji="1" lang="ja-JP" altLang="en-US"/>
              <a:t>段落</a:t>
            </a:r>
            <a:r>
              <a:rPr kumimoji="1" lang="en-US" altLang="ja-JP"/>
              <a:t>(L1) – Paragraph Level 1</a:t>
            </a:r>
            <a:endParaRPr kumimoji="1" lang="ja-JP" altLang="en-US"/>
          </a:p>
          <a:p>
            <a:pPr lvl="2"/>
            <a:r>
              <a:rPr kumimoji="1" lang="ja-JP" altLang="en-US"/>
              <a:t>段落</a:t>
            </a:r>
            <a:r>
              <a:rPr kumimoji="1" lang="en-US" altLang="ja-JP"/>
              <a:t>(L2)  – Paragraph Level 2</a:t>
            </a:r>
          </a:p>
          <a:p>
            <a:pPr lvl="3"/>
            <a:r>
              <a:rPr kumimoji="1" lang="ja-JP" altLang="en-US"/>
              <a:t>段落</a:t>
            </a:r>
            <a:r>
              <a:rPr kumimoji="1" lang="en-US" altLang="ja-JP"/>
              <a:t>(L3) – Paragraph Level 3</a:t>
            </a:r>
          </a:p>
          <a:p>
            <a:pPr marL="893763" marR="0" lvl="4" indent="-2682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/>
              <a:t>段落</a:t>
            </a:r>
            <a:r>
              <a:rPr kumimoji="1" lang="en-US" altLang="ja-JP"/>
              <a:t>(L4) – Paragraph Level 4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9B99030-974F-4A42-B17F-456ED51B01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5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　標準01_Standar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522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065"/>
            <a:ext cx="9042912" cy="387798"/>
          </a:xfrm>
          <a:prstGeom prst="rect">
            <a:avLst/>
          </a:prstGeom>
        </p:spPr>
        <p:txBody>
          <a:bodyPr vert="horz" lIns="0" anchor="ctr"/>
          <a:lstStyle>
            <a:lvl1pPr>
              <a:defRPr sz="2800"/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53F931A-B844-4DA6-A775-545FFCB9FCAC}"/>
              </a:ext>
            </a:extLst>
          </p:cNvPr>
          <p:cNvCxnSpPr/>
          <p:nvPr userDrawn="1"/>
        </p:nvCxnSpPr>
        <p:spPr>
          <a:xfrm>
            <a:off x="0" y="911769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EB608818-AD71-4C85-967C-4F62F7A31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9DC4D40E-3E66-471C-A5BE-0B171CCC94D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7"/>
            <a:ext cx="1951200" cy="304875"/>
          </a:xfrm>
          <a:prstGeom prst="rect">
            <a:avLst/>
          </a:prstGeom>
        </p:spPr>
      </p:pic>
      <p:sp>
        <p:nvSpPr>
          <p:cNvPr id="7" name="Content Placeholder 21">
            <a:extLst>
              <a:ext uri="{FF2B5EF4-FFF2-40B4-BE49-F238E27FC236}">
                <a16:creationId xmlns:a16="http://schemas.microsoft.com/office/drawing/2014/main" id="{0EA7AEB4-F5AA-40E9-8ABD-0D459D1F78A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12418"/>
            <a:ext cx="11111876" cy="4918517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2246C778-E335-4954-BE3D-3F434A3521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1140683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58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　標準02_Standar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7705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600"/>
            <a:ext cx="9042912" cy="387798"/>
          </a:xfrm>
          <a:prstGeom prst="rect">
            <a:avLst/>
          </a:prstGeom>
        </p:spPr>
        <p:txBody>
          <a:bodyPr vert="horz" wrap="square" lIns="0" tIns="46800" anchor="ctr"/>
          <a:lstStyle>
            <a:lvl1pPr>
              <a:defRPr sz="2800"/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sp>
        <p:nvSpPr>
          <p:cNvPr id="6" name="Content Placeholder 21">
            <a:extLst>
              <a:ext uri="{FF2B5EF4-FFF2-40B4-BE49-F238E27FC236}">
                <a16:creationId xmlns:a16="http://schemas.microsoft.com/office/drawing/2014/main" id="{72467808-3A56-46D3-BF03-13366ABF6B9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333216"/>
            <a:ext cx="11111876" cy="5197720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7A867762-666F-4D92-AAAE-D9869876B1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858295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6558D8C-C74B-10CA-47EB-A51B52B700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4" name="Picture 16">
            <a:extLst>
              <a:ext uri="{FF2B5EF4-FFF2-40B4-BE49-F238E27FC236}">
                <a16:creationId xmlns:a16="http://schemas.microsoft.com/office/drawing/2014/main" id="{1B0DD730-4F4B-4924-775E-D3B425717B9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7"/>
            <a:ext cx="1951200" cy="3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7　標準03_Standard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E94CEB-1D0D-4D41-AD19-797589E7C722}"/>
              </a:ext>
            </a:extLst>
          </p:cNvPr>
          <p:cNvSpPr/>
          <p:nvPr userDrawn="1"/>
        </p:nvSpPr>
        <p:spPr>
          <a:xfrm rot="10800000">
            <a:off x="687479" y="0"/>
            <a:ext cx="9059209" cy="862962"/>
          </a:xfrm>
          <a:prstGeom prst="rect">
            <a:avLst/>
          </a:prstGeom>
          <a:gradFill>
            <a:gsLst>
              <a:gs pos="76000">
                <a:srgbClr val="C1EDF8"/>
              </a:gs>
              <a:gs pos="99000">
                <a:schemeClr val="bg2">
                  <a:shade val="100000"/>
                  <a:satMod val="115000"/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B608818-AD71-4C85-967C-4F62F7A31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0000"/>
          </a:blip>
          <a:srcRect l="1" t="12488" r="46893" b="73222"/>
          <a:stretch/>
        </p:blipFill>
        <p:spPr>
          <a:xfrm>
            <a:off x="0" y="1"/>
            <a:ext cx="691944" cy="862962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6074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9750" y="253839"/>
            <a:ext cx="9042912" cy="387798"/>
          </a:xfrm>
          <a:prstGeom prst="rect">
            <a:avLst/>
          </a:prstGeom>
        </p:spPr>
        <p:txBody>
          <a:bodyPr vert="horz" lIns="0" anchor="ctr"/>
          <a:lstStyle>
            <a:lvl1pPr>
              <a:defRPr kumimoji="1" lang="ru-RU" sz="28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pic>
        <p:nvPicPr>
          <p:cNvPr id="15" name="Picture 16">
            <a:extLst>
              <a:ext uri="{FF2B5EF4-FFF2-40B4-BE49-F238E27FC236}">
                <a16:creationId xmlns:a16="http://schemas.microsoft.com/office/drawing/2014/main" id="{9DC4D40E-3E66-471C-A5BE-0B171CCC94D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sp>
        <p:nvSpPr>
          <p:cNvPr id="7" name="Content Placeholder 21">
            <a:extLst>
              <a:ext uri="{FF2B5EF4-FFF2-40B4-BE49-F238E27FC236}">
                <a16:creationId xmlns:a16="http://schemas.microsoft.com/office/drawing/2014/main" id="{C2D136EB-C65A-4E98-B5AE-EF20092CCB8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12418"/>
            <a:ext cx="11111876" cy="4918517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B2B1AFB8-0E45-48D6-B3CD-C364D7A244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1140683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5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　中見出し_Cross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501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9">
            <a:extLst>
              <a:ext uri="{FF2B5EF4-FFF2-40B4-BE49-F238E27FC236}">
                <a16:creationId xmlns:a16="http://schemas.microsoft.com/office/drawing/2014/main" id="{3C801DF1-B95B-4868-A056-7C76ECAD9235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EEE236A-15A6-4741-A45D-F843C6B94B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36805" y="2928102"/>
            <a:ext cx="6022183" cy="511408"/>
          </a:xfrm>
          <a:prstGeom prst="rect">
            <a:avLst/>
          </a:prstGeom>
        </p:spPr>
        <p:txBody>
          <a:bodyPr wrap="none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2800" b="1" baseline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中見出し </a:t>
            </a:r>
            <a:r>
              <a:rPr lang="en-US" altLang="ja-JP">
                <a:solidFill>
                  <a:srgbClr val="002F6C"/>
                </a:solidFill>
              </a:rPr>
              <a:t>–</a:t>
            </a:r>
            <a:r>
              <a:rPr lang="en-US" altLang="ja-JP">
                <a:solidFill>
                  <a:srgbClr val="404040"/>
                </a:solidFill>
              </a:rPr>
              <a:t> </a:t>
            </a:r>
            <a:r>
              <a:rPr lang="en-US" altLang="ja-JP"/>
              <a:t>crosshead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824070-10E1-45E3-B00F-534DE497B145}"/>
              </a:ext>
            </a:extLst>
          </p:cNvPr>
          <p:cNvCxnSpPr/>
          <p:nvPr userDrawn="1"/>
        </p:nvCxnSpPr>
        <p:spPr>
          <a:xfrm>
            <a:off x="2436805" y="3458874"/>
            <a:ext cx="6022183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8FFAF0F5-F64B-40E9-90FD-BB52BF4B4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86940" t="12791" b="25699"/>
          <a:stretch/>
        </p:blipFill>
        <p:spPr>
          <a:xfrm rot="10800000">
            <a:off x="0" y="0"/>
            <a:ext cx="2058976" cy="6858000"/>
          </a:xfrm>
          <a:prstGeom prst="rect">
            <a:avLst/>
          </a:prstGeom>
        </p:spPr>
      </p:pic>
      <p:sp>
        <p:nvSpPr>
          <p:cNvPr id="9" name="TextBox 29">
            <a:extLst>
              <a:ext uri="{FF2B5EF4-FFF2-40B4-BE49-F238E27FC236}">
                <a16:creationId xmlns:a16="http://schemas.microsoft.com/office/drawing/2014/main" id="{0D235B96-BB03-4659-94D4-55AC88369CA0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A8586FC-C23A-4A91-9AAF-5804CBE645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41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　チャート標準_Standar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9A80A46-EA13-EC64-223F-69DD24576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sp>
        <p:nvSpPr>
          <p:cNvPr id="8" name="RectangleLight">
            <a:extLst>
              <a:ext uri="{FF2B5EF4-FFF2-40B4-BE49-F238E27FC236}">
                <a16:creationId xmlns:a16="http://schemas.microsoft.com/office/drawing/2014/main" id="{EF310A93-D5C7-4A2B-B91A-09427A48AC5A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911769"/>
            <a:ext cx="3410584" cy="5946231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16A8F86-9268-4275-ACDD-6CC28E3D638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80074" y="1277470"/>
            <a:ext cx="2611896" cy="5212001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ja-JP" altLang="en-US">
              <a:solidFill>
                <a:srgbClr val="404040"/>
              </a:solidFill>
            </a:endParaRPr>
          </a:p>
        </p:txBody>
      </p:sp>
      <p:sp>
        <p:nvSpPr>
          <p:cNvPr id="11" name="Content Placeholder 21">
            <a:extLst>
              <a:ext uri="{FF2B5EF4-FFF2-40B4-BE49-F238E27FC236}">
                <a16:creationId xmlns:a16="http://schemas.microsoft.com/office/drawing/2014/main" id="{7E6E572A-AF6F-4FBC-874D-C851ED1797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277470"/>
            <a:ext cx="7920000" cy="5253465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21" name="Title 15">
            <a:extLst>
              <a:ext uri="{FF2B5EF4-FFF2-40B4-BE49-F238E27FC236}">
                <a16:creationId xmlns:a16="http://schemas.microsoft.com/office/drawing/2014/main" id="{39F8534E-4565-4FC5-AA58-5BD527478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065"/>
            <a:ext cx="9042912" cy="387798"/>
          </a:xfrm>
          <a:prstGeom prst="rect">
            <a:avLst/>
          </a:prstGeom>
        </p:spPr>
        <p:txBody>
          <a:bodyPr vert="horz" anchor="ctr"/>
          <a:lstStyle>
            <a:lvl1pPr>
              <a:defRPr sz="2800"/>
            </a:lvl1pPr>
          </a:lstStyle>
          <a:p>
            <a:r>
              <a:rPr kumimoji="1" lang="ja-JP" altLang="en-US"/>
              <a:t>チャート標準</a:t>
            </a:r>
            <a:r>
              <a:rPr kumimoji="1" lang="en-US" altLang="ja-JP"/>
              <a:t>01 – Standard chart 1</a:t>
            </a:r>
            <a:endParaRPr kumimoji="1" lang="ru-RU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059CC42-6DDB-4408-BF47-7AE164F343FF}"/>
              </a:ext>
            </a:extLst>
          </p:cNvPr>
          <p:cNvCxnSpPr/>
          <p:nvPr userDrawn="1"/>
        </p:nvCxnSpPr>
        <p:spPr>
          <a:xfrm>
            <a:off x="0" y="911769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16">
            <a:extLst>
              <a:ext uri="{FF2B5EF4-FFF2-40B4-BE49-F238E27FC236}">
                <a16:creationId xmlns:a16="http://schemas.microsoft.com/office/drawing/2014/main" id="{3A509E99-5BBD-4048-A4EE-150F87827C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9"/>
            <a:ext cx="1951200" cy="304873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23EDDF5A-7F39-4576-8FC2-64CAFF2A72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52953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2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　付議事項_Discussion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8E7A22D-7F0F-20EF-E7C3-3DFA81DED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4" name="Picture 16">
            <a:extLst>
              <a:ext uri="{FF2B5EF4-FFF2-40B4-BE49-F238E27FC236}">
                <a16:creationId xmlns:a16="http://schemas.microsoft.com/office/drawing/2014/main" id="{8A7D4BB6-4D84-8E84-8E45-4C11E9E09B9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9"/>
            <a:ext cx="1951200" cy="3048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993D4A2-E10E-4CFF-8A7D-32A06E82D324}"/>
              </a:ext>
            </a:extLst>
          </p:cNvPr>
          <p:cNvSpPr>
            <a:spLocks/>
          </p:cNvSpPr>
          <p:nvPr userDrawn="1"/>
        </p:nvSpPr>
        <p:spPr>
          <a:xfrm>
            <a:off x="5576621" y="1790635"/>
            <a:ext cx="6226441" cy="4747649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altLang="ja-JP" sz="1400" b="1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629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ja-JP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ja-JP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ja-JP" sz="800"/>
              <a:t>資料: 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A45F24A0-E1E5-4CEF-AAE5-F2C8B392CA86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373371" y="884622"/>
            <a:ext cx="9480651" cy="276999"/>
          </a:xfrm>
          <a:prstGeom prst="rect">
            <a:avLst/>
          </a:prstGeom>
        </p:spPr>
        <p:txBody>
          <a:bodyPr anchor="ctr" anchorCtr="0"/>
          <a:lstStyle>
            <a:lvl1pPr>
              <a:defRPr b="1"/>
            </a:lvl1pPr>
          </a:lstStyle>
          <a:p>
            <a:r>
              <a:rPr lang="ja-JP" altLang="en-US" sz="1600"/>
              <a:t>（ネクストステップ）</a:t>
            </a:r>
            <a:r>
              <a:rPr lang="en-US" altLang="ja-JP" sz="1600"/>
              <a:t>XXXXXXXXX</a:t>
            </a:r>
            <a:r>
              <a:rPr lang="ja-JP" altLang="en-US" sz="1600"/>
              <a:t>において</a:t>
            </a:r>
            <a:r>
              <a:rPr lang="en-US" altLang="ja-JP" sz="1600"/>
              <a:t>XXXXXXXXXX</a:t>
            </a:r>
            <a:r>
              <a:rPr lang="ja-JP" altLang="en-US" sz="1600"/>
              <a:t>するものとする</a:t>
            </a:r>
            <a:endParaRPr lang="ja-JP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AEA4F-3A1B-4492-9391-23555E850382}"/>
              </a:ext>
            </a:extLst>
          </p:cNvPr>
          <p:cNvSpPr>
            <a:spLocks/>
          </p:cNvSpPr>
          <p:nvPr userDrawn="1"/>
        </p:nvSpPr>
        <p:spPr>
          <a:xfrm>
            <a:off x="2979145" y="1790631"/>
            <a:ext cx="2513190" cy="474764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491FDA-17C5-485D-A6F3-3E6B7695B10F}"/>
              </a:ext>
            </a:extLst>
          </p:cNvPr>
          <p:cNvSpPr>
            <a:spLocks/>
          </p:cNvSpPr>
          <p:nvPr userDrawn="1"/>
        </p:nvSpPr>
        <p:spPr>
          <a:xfrm>
            <a:off x="373371" y="1790631"/>
            <a:ext cx="2513190" cy="474764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altLang="ja-JP" sz="1400" b="1">
              <a:solidFill>
                <a:schemeClr val="tx1"/>
              </a:solidFill>
              <a:latin typeface="+mn-ea"/>
            </a:endParaRPr>
          </a:p>
          <a:p>
            <a:endParaRPr 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40">
            <a:extLst>
              <a:ext uri="{FF2B5EF4-FFF2-40B4-BE49-F238E27FC236}">
                <a16:creationId xmlns:a16="http://schemas.microsoft.com/office/drawing/2014/main" id="{33D3CC9F-AF20-4684-8B4C-8A112B4189C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2999113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協議事項</a:t>
            </a:r>
          </a:p>
        </p:txBody>
      </p:sp>
      <p:sp>
        <p:nvSpPr>
          <p:cNvPr id="19" name="TextBox 40">
            <a:extLst>
              <a:ext uri="{FF2B5EF4-FFF2-40B4-BE49-F238E27FC236}">
                <a16:creationId xmlns:a16="http://schemas.microsoft.com/office/drawing/2014/main" id="{BEEDC103-8837-41DF-B138-E1D8DCACC3C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617967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対応内容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4870C2F8-248B-4789-886A-D91C0EE7031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373371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提議の意義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1B6D1D6B-42EB-48C6-98F8-37C6E90977B2}"/>
              </a:ext>
            </a:extLst>
          </p:cNvPr>
          <p:cNvCxnSpPr/>
          <p:nvPr userDrawn="1"/>
        </p:nvCxnSpPr>
        <p:spPr>
          <a:xfrm>
            <a:off x="0" y="1262528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1. On-page tracker">
            <a:extLst>
              <a:ext uri="{FF2B5EF4-FFF2-40B4-BE49-F238E27FC236}">
                <a16:creationId xmlns:a16="http://schemas.microsoft.com/office/drawing/2014/main" id="{5605C146-CBAF-4311-800D-F0A5795FD11D}"/>
              </a:ext>
            </a:extLst>
          </p:cNvPr>
          <p:cNvSpPr>
            <a:spLocks noGrp="1"/>
          </p:cNvSpPr>
          <p:nvPr userDrawn="1">
            <p:ph type="body" sz="quarter" idx="18" hasCustomPrompt="1"/>
            <p:custDataLst>
              <p:tags r:id="rId8"/>
            </p:custDataLst>
          </p:nvPr>
        </p:nvSpPr>
        <p:spPr>
          <a:xfrm>
            <a:off x="9936000" y="832570"/>
            <a:ext cx="1951200" cy="21574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ja-JP"/>
              <a:t>Chapter › Topic</a:t>
            </a:r>
          </a:p>
        </p:txBody>
      </p:sp>
      <p:sp>
        <p:nvSpPr>
          <p:cNvPr id="62" name="テキスト プレースホルダー 4">
            <a:extLst>
              <a:ext uri="{FF2B5EF4-FFF2-40B4-BE49-F238E27FC236}">
                <a16:creationId xmlns:a16="http://schemas.microsoft.com/office/drawing/2014/main" id="{583F68BE-EF32-4ECF-B5AA-2360B81F0C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8005" y="1904180"/>
            <a:ext cx="95202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9C32D9C9-E286-47A9-9650-632054DD7B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02814" y="1904180"/>
            <a:ext cx="95202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6" name="テキスト プレースホルダー 4">
            <a:extLst>
              <a:ext uri="{FF2B5EF4-FFF2-40B4-BE49-F238E27FC236}">
                <a16:creationId xmlns:a16="http://schemas.microsoft.com/office/drawing/2014/main" id="{3EB7F5F3-7901-4C45-9734-AFCA4A1D35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67623" y="1904180"/>
            <a:ext cx="235304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7" name="テキスト プレースホルダー 4">
            <a:extLst>
              <a:ext uri="{FF2B5EF4-FFF2-40B4-BE49-F238E27FC236}">
                <a16:creationId xmlns:a16="http://schemas.microsoft.com/office/drawing/2014/main" id="{B0DCA83B-884F-4E42-94FA-A17F1CE0F1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33451" y="1904180"/>
            <a:ext cx="1258184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46" name="Title 15">
            <a:extLst>
              <a:ext uri="{FF2B5EF4-FFF2-40B4-BE49-F238E27FC236}">
                <a16:creationId xmlns:a16="http://schemas.microsoft.com/office/drawing/2014/main" id="{B1DC34B8-E61D-4179-A5A0-98BF3D335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71" y="238567"/>
            <a:ext cx="9042912" cy="578815"/>
          </a:xfrm>
          <a:prstGeom prst="rect">
            <a:avLst/>
          </a:prstGeom>
        </p:spPr>
        <p:txBody>
          <a:bodyPr vert="horz" anchor="ctr"/>
          <a:lstStyle>
            <a:lvl1pPr>
              <a:defRPr lang="ja-JP" altLang="en-US" sz="2400" smtClean="0">
                <a:latin typeface="+mn-ea"/>
              </a:defRPr>
            </a:lvl1pPr>
          </a:lstStyle>
          <a:p>
            <a:r>
              <a:rPr lang="ja-JP" altLang="en-US" sz="2400">
                <a:latin typeface="+mn-ea"/>
                <a:ea typeface="+mn-ea"/>
              </a:rPr>
              <a:t>本日の協議事項</a:t>
            </a:r>
            <a:r>
              <a:rPr lang="en-US" altLang="ja-JP" sz="2400">
                <a:latin typeface="+mn-ea"/>
                <a:ea typeface="+mn-ea"/>
              </a:rPr>
              <a:t>: XXXXXXXXXX</a:t>
            </a:r>
            <a:r>
              <a:rPr lang="ja-JP" altLang="en-US" sz="2400">
                <a:latin typeface="+mn-ea"/>
                <a:ea typeface="+mn-ea"/>
              </a:rPr>
              <a:t>について</a:t>
            </a:r>
            <a:r>
              <a:rPr lang="en-US" altLang="ja-JP" sz="2400">
                <a:latin typeface="+mn-ea"/>
                <a:ea typeface="+mn-ea"/>
              </a:rPr>
              <a:t>XXXXXXXXXXXXX</a:t>
            </a:r>
            <a:r>
              <a:rPr lang="ja-JP" altLang="en-US" sz="2400">
                <a:latin typeface="+mn-ea"/>
                <a:ea typeface="+mn-ea"/>
              </a:rPr>
              <a:t>を計画（実行）する件の承認（討議、決議）のお願い</a:t>
            </a:r>
            <a:endParaRPr kumimoji="1" lang="ru-RU"/>
          </a:p>
        </p:txBody>
      </p:sp>
      <p:sp>
        <p:nvSpPr>
          <p:cNvPr id="47" name="テキスト プレースホルダー 4">
            <a:extLst>
              <a:ext uri="{FF2B5EF4-FFF2-40B4-BE49-F238E27FC236}">
                <a16:creationId xmlns:a16="http://schemas.microsoft.com/office/drawing/2014/main" id="{5A81ADCA-303E-4D36-8AD4-6FD1230F4F7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2303" y="4606332"/>
            <a:ext cx="2496797" cy="55993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>
                <a:latin typeface="+mn-ea"/>
                <a:ea typeface="+mn-ea"/>
              </a:rPr>
              <a:t>前回会議の承認内容</a:t>
            </a:r>
            <a:br>
              <a:rPr lang="en-US" altLang="ja-JP" sz="1600">
                <a:latin typeface="+mn-ea"/>
                <a:ea typeface="+mn-ea"/>
              </a:rPr>
            </a:br>
            <a:r>
              <a:rPr lang="ja-JP" altLang="en-US" sz="1600">
                <a:latin typeface="+mn-ea"/>
                <a:ea typeface="+mn-ea"/>
              </a:rPr>
              <a:t>（</a:t>
            </a:r>
            <a:r>
              <a:rPr lang="en-US" altLang="ja-JP" sz="1600">
                <a:latin typeface="+mn-ea"/>
                <a:ea typeface="+mn-ea"/>
              </a:rPr>
              <a:t>What</a:t>
            </a:r>
            <a:r>
              <a:rPr lang="ja-JP" altLang="en-US" sz="1600">
                <a:latin typeface="+mn-ea"/>
                <a:ea typeface="+mn-ea"/>
              </a:rPr>
              <a:t>）</a:t>
            </a:r>
            <a:endParaRPr lang="en-US" altLang="ja-JP" sz="1600">
              <a:latin typeface="+mn-ea"/>
              <a:ea typeface="+mn-ea"/>
            </a:endParaRPr>
          </a:p>
        </p:txBody>
      </p:sp>
      <p:sp>
        <p:nvSpPr>
          <p:cNvPr id="84" name="テキスト プレースホルダー 4">
            <a:extLst>
              <a:ext uri="{FF2B5EF4-FFF2-40B4-BE49-F238E27FC236}">
                <a16:creationId xmlns:a16="http://schemas.microsoft.com/office/drawing/2014/main" id="{46B2E5E8-5E37-43F4-8EE5-72BA8B5F4F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2303" y="3251998"/>
            <a:ext cx="2578135" cy="55993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 b="1">
                <a:latin typeface="+mn-ea"/>
                <a:ea typeface="+mn-ea"/>
              </a:rPr>
              <a:t>本取組みの目的・あるべき姿（</a:t>
            </a:r>
            <a:r>
              <a:rPr lang="en-US" altLang="ja-JP" sz="1600" b="1">
                <a:latin typeface="+mn-ea"/>
                <a:ea typeface="+mn-ea"/>
              </a:rPr>
              <a:t>What</a:t>
            </a:r>
            <a:r>
              <a:rPr lang="ja-JP" altLang="en-US" sz="1600" b="1">
                <a:latin typeface="+mn-ea"/>
                <a:ea typeface="+mn-ea"/>
              </a:rPr>
              <a:t>）</a:t>
            </a:r>
            <a:endParaRPr lang="en-US" altLang="ja-JP" sz="1600" b="1">
              <a:latin typeface="+mn-ea"/>
              <a:ea typeface="+mn-ea"/>
            </a:endParaRPr>
          </a:p>
        </p:txBody>
      </p:sp>
      <p:sp>
        <p:nvSpPr>
          <p:cNvPr id="85" name="テキスト プレースホルダー 4">
            <a:extLst>
              <a:ext uri="{FF2B5EF4-FFF2-40B4-BE49-F238E27FC236}">
                <a16:creationId xmlns:a16="http://schemas.microsoft.com/office/drawing/2014/main" id="{3B43884D-359A-488F-83BA-C9D76DC92B8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304" y="1790631"/>
            <a:ext cx="2512556" cy="45561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 b="1">
                <a:latin typeface="+mn-ea"/>
                <a:ea typeface="+mn-ea"/>
              </a:rPr>
              <a:t>問題意識（</a:t>
            </a:r>
            <a:r>
              <a:rPr lang="en-US" altLang="ja-JP" sz="1600" b="1">
                <a:latin typeface="+mn-ea"/>
                <a:ea typeface="+mn-ea"/>
              </a:rPr>
              <a:t>Why</a:t>
            </a:r>
            <a:r>
              <a:rPr lang="ja-JP" altLang="en-US" sz="1600" b="1">
                <a:latin typeface="+mn-ea"/>
                <a:ea typeface="+mn-ea"/>
              </a:rPr>
              <a:t>）</a:t>
            </a:r>
            <a:endParaRPr lang="en-US" altLang="ja-JP" sz="1600" b="1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112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　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7A6221B-17CC-413E-B669-B33BD9556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-1"/>
          <a:stretch/>
        </p:blipFill>
        <p:spPr>
          <a:xfrm>
            <a:off x="0" y="0"/>
            <a:ext cx="12193200" cy="6862052"/>
          </a:xfrm>
          <a:prstGeom prst="rect">
            <a:avLst/>
          </a:prstGeom>
        </p:spPr>
      </p:pic>
      <p:pic>
        <p:nvPicPr>
          <p:cNvPr id="13" name="グラフィックス 12">
            <a:hlinkClick r:id="rId3"/>
            <a:extLst>
              <a:ext uri="{FF2B5EF4-FFF2-40B4-BE49-F238E27FC236}">
                <a16:creationId xmlns:a16="http://schemas.microsoft.com/office/drawing/2014/main" id="{12E62095-7F7E-4F72-8E9C-E74EBF23F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4563" y="3940078"/>
            <a:ext cx="2362874" cy="1173863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139D80-ED18-4A2B-9329-4BBC8F53C30D}"/>
              </a:ext>
            </a:extLst>
          </p:cNvPr>
          <p:cNvCxnSpPr>
            <a:cxnSpLocks/>
          </p:cNvCxnSpPr>
          <p:nvPr userDrawn="1"/>
        </p:nvCxnSpPr>
        <p:spPr>
          <a:xfrm>
            <a:off x="3065533" y="3473698"/>
            <a:ext cx="6060934" cy="0"/>
          </a:xfrm>
          <a:prstGeom prst="line">
            <a:avLst/>
          </a:prstGeom>
          <a:ln w="19050">
            <a:solidFill>
              <a:srgbClr val="002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10EDE6C7-2E7A-47C0-825B-E4A42ABF17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66236"/>
          <a:stretch/>
        </p:blipFill>
        <p:spPr>
          <a:xfrm>
            <a:off x="3704339" y="1842637"/>
            <a:ext cx="4783322" cy="349330"/>
          </a:xfrm>
          <a:prstGeom prst="rect">
            <a:avLst/>
          </a:prstGeom>
        </p:spPr>
      </p:pic>
      <p:sp>
        <p:nvSpPr>
          <p:cNvPr id="6" name="TextBox 29">
            <a:extLst>
              <a:ext uri="{FF2B5EF4-FFF2-40B4-BE49-F238E27FC236}">
                <a16:creationId xmlns:a16="http://schemas.microsoft.com/office/drawing/2014/main" id="{30B3E708-E9EE-40F4-BB35-AA483074674E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E0908757-0C64-F118-41C9-2455C52AF9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4273" y="2377925"/>
            <a:ext cx="2103454" cy="5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1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　END（English）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7A6221B-17CC-413E-B669-B33BD9556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-1"/>
          <a:stretch/>
        </p:blipFill>
        <p:spPr>
          <a:xfrm>
            <a:off x="0" y="0"/>
            <a:ext cx="12193200" cy="6862052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EDF65554-3083-68D9-8C17-2582C8E2C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689" y="3940078"/>
            <a:ext cx="2956623" cy="1257790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139D80-ED18-4A2B-9329-4BBC8F53C30D}"/>
              </a:ext>
            </a:extLst>
          </p:cNvPr>
          <p:cNvCxnSpPr>
            <a:cxnSpLocks/>
          </p:cNvCxnSpPr>
          <p:nvPr userDrawn="1"/>
        </p:nvCxnSpPr>
        <p:spPr>
          <a:xfrm>
            <a:off x="3065533" y="3473698"/>
            <a:ext cx="6060934" cy="0"/>
          </a:xfrm>
          <a:prstGeom prst="line">
            <a:avLst/>
          </a:prstGeom>
          <a:ln w="19050">
            <a:solidFill>
              <a:srgbClr val="002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9">
            <a:extLst>
              <a:ext uri="{FF2B5EF4-FFF2-40B4-BE49-F238E27FC236}">
                <a16:creationId xmlns:a16="http://schemas.microsoft.com/office/drawing/2014/main" id="{30B3E708-E9EE-40F4-BB35-AA483074674E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1F262DC-255A-804F-A0E6-B8C71DB0E7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4273" y="2377925"/>
            <a:ext cx="2103454" cy="5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4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&amp;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1A43FF4C-103D-46A6-BA79-D03D2D4AB6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31056" y="6604963"/>
            <a:ext cx="2180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fld id="{FAF75358-90CF-4CFC-A3A1-1392029DBAD6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タイトル 8">
            <a:extLst>
              <a:ext uri="{FF2B5EF4-FFF2-40B4-BE49-F238E27FC236}">
                <a16:creationId xmlns:a16="http://schemas.microsoft.com/office/drawing/2014/main" id="{C9A2F9B9-990D-40C5-9471-7AF6351A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742" y="61221"/>
            <a:ext cx="9428327" cy="642040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69DAD2D7-ACFF-45FF-A3F1-3CD0008AB7A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15963"/>
            <a:ext cx="12192000" cy="0"/>
          </a:xfrm>
          <a:prstGeom prst="line">
            <a:avLst/>
          </a:prstGeom>
          <a:noFill/>
          <a:ln w="38100">
            <a:solidFill>
              <a:srgbClr val="0068B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フッター プレースホルダー 4">
            <a:extLst>
              <a:ext uri="{FF2B5EF4-FFF2-40B4-BE49-F238E27FC236}">
                <a16:creationId xmlns:a16="http://schemas.microsoft.com/office/drawing/2014/main" id="{F00ED37C-6BDE-46F2-AC72-A2DF777A1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36" y="6603958"/>
            <a:ext cx="5607606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altLang="ja-JP" sz="1000" baseline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dirty="0"/>
              <a:t>All Rights Reserved, Copyright© FURUKAWA ELECTRIC CO., LTD. 2023</a:t>
            </a:r>
          </a:p>
        </p:txBody>
      </p:sp>
    </p:spTree>
    <p:extLst>
      <p:ext uri="{BB962C8B-B14F-4D97-AF65-F5344CB8AC3E}">
        <p14:creationId xmlns:p14="http://schemas.microsoft.com/office/powerpoint/2010/main" val="2870334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　補足資料_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9">
            <a:extLst>
              <a:ext uri="{FF2B5EF4-FFF2-40B4-BE49-F238E27FC236}">
                <a16:creationId xmlns:a16="http://schemas.microsoft.com/office/drawing/2014/main" id="{A38773C7-E221-4810-BB16-CC7AA5FD86BB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7B58BA3-4EBF-497F-8EBD-139F42A885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84908" y="2403624"/>
            <a:ext cx="6022183" cy="511408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2800" b="1" baseline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　補足資料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Appendix</a:t>
            </a:r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DF182FD-69C6-455C-8528-F39285E1D918}"/>
              </a:ext>
            </a:extLst>
          </p:cNvPr>
          <p:cNvCxnSpPr/>
          <p:nvPr userDrawn="1"/>
        </p:nvCxnSpPr>
        <p:spPr>
          <a:xfrm>
            <a:off x="3084908" y="2915032"/>
            <a:ext cx="6022183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B82B9129-E8C7-4CDB-BE13-8EE4AC83C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940" t="12791" b="25699"/>
          <a:stretch/>
        </p:blipFill>
        <p:spPr>
          <a:xfrm rot="10800000">
            <a:off x="0" y="0"/>
            <a:ext cx="2058976" cy="6858000"/>
          </a:xfrm>
          <a:prstGeom prst="rect">
            <a:avLst/>
          </a:prstGeom>
        </p:spPr>
      </p:pic>
      <p:sp>
        <p:nvSpPr>
          <p:cNvPr id="11" name="TextBox 29">
            <a:extLst>
              <a:ext uri="{FF2B5EF4-FFF2-40B4-BE49-F238E27FC236}">
                <a16:creationId xmlns:a16="http://schemas.microsoft.com/office/drawing/2014/main" id="{02B61DC7-6D6F-4B40-886C-D8D1A56E0D9A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F4CDC29-B14A-4EBC-BFD2-4CA975E7A6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4908" y="3189661"/>
            <a:ext cx="6022183" cy="12305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/>
            </a:lvl1pPr>
          </a:lstStyle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1 – Subheading 1</a:t>
            </a:r>
          </a:p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2 – Subheading 2</a:t>
            </a:r>
          </a:p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3 – Subheading 3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CCBB24A8-B571-40F3-9E5C-2E4EC899A3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13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　補足資料01_Appendix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363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67601"/>
            <a:ext cx="11088000" cy="332399"/>
          </a:xfrm>
          <a:prstGeom prst="rect">
            <a:avLst/>
          </a:prstGeom>
        </p:spPr>
        <p:txBody>
          <a:bodyPr vert="horz" lIns="0"/>
          <a:lstStyle>
            <a:lvl1pPr>
              <a:defRPr/>
            </a:lvl1pPr>
          </a:lstStyle>
          <a:p>
            <a:r>
              <a:rPr lang="ja-JP" altLang="en-US"/>
              <a:t>タイトル</a:t>
            </a:r>
            <a:r>
              <a:rPr lang="en-US" altLang="ja-JP"/>
              <a:t> </a:t>
            </a:r>
            <a:r>
              <a:rPr lang="en-US" altLang="ja-JP">
                <a:solidFill>
                  <a:srgbClr val="404040"/>
                </a:solidFill>
              </a:rPr>
              <a:t>–Title</a:t>
            </a:r>
            <a:endParaRPr kumimoji="1" lang="ru-RU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FD0D73C-7199-4C9D-AE1D-A79D4E93075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2017682"/>
            <a:ext cx="7442200" cy="1384995"/>
          </a:xfrm>
          <a:prstGeom prst="rect">
            <a:avLst/>
          </a:prstGeom>
        </p:spPr>
        <p:txBody>
          <a:bodyPr/>
          <a:lstStyle>
            <a:lvl1pPr fontAlgn="ctr">
              <a:spcAft>
                <a:spcPts val="300"/>
              </a:spcAft>
              <a:defRPr/>
            </a:lvl1pPr>
            <a:lvl2pPr fontAlgn="ctr">
              <a:spcAft>
                <a:spcPts val="300"/>
              </a:spcAft>
              <a:defRPr/>
            </a:lvl2pPr>
            <a:lvl3pPr fontAlgn="ctr">
              <a:spcAft>
                <a:spcPts val="300"/>
              </a:spcAft>
              <a:defRPr/>
            </a:lvl3pPr>
            <a:lvl4pPr fontAlgn="ctr">
              <a:spcAft>
                <a:spcPts val="300"/>
              </a:spcAft>
              <a:defRPr/>
            </a:lvl4pPr>
            <a:lvl5pPr marL="702000" indent="-234000">
              <a:spcAft>
                <a:spcPts val="300"/>
              </a:spcAft>
              <a:buSzPct val="60000"/>
              <a:buFont typeface="Wingdings" panose="05000000000000000000" pitchFamily="2" charset="2"/>
              <a:buChar char="p"/>
              <a:defRPr/>
            </a:lvl5pPr>
          </a:lstStyle>
          <a:p>
            <a:pPr lvl="0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(L1) – Paragraph Level 1</a:t>
            </a:r>
          </a:p>
          <a:p>
            <a:pPr lvl="1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(L2) – Paragraph Level 2</a:t>
            </a:r>
          </a:p>
          <a:p>
            <a:pPr lvl="2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(L3)  – Paragraph Level 3</a:t>
            </a:r>
          </a:p>
          <a:p>
            <a:pPr lvl="3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(L4) – Paragraph Level 4</a:t>
            </a:r>
            <a:endParaRPr lang="ru-RU" altLang="ja-JP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68E0E-5E4D-45F8-B386-6A8C452782E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40000" y="1008000"/>
            <a:ext cx="11088000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 lang="ja-JP" altLang="en-US" baseline="0" smtClean="0"/>
            </a:lvl1pPr>
          </a:lstStyle>
          <a:p>
            <a:pPr>
              <a:spcAft>
                <a:spcPts val="300"/>
              </a:spcAft>
            </a:pPr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en-US">
              <a:solidFill>
                <a:srgbClr val="40404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1A41-BFF4-49D2-8E51-44AC27D301C5}"/>
              </a:ext>
            </a:extLst>
          </p:cNvPr>
          <p:cNvSpPr>
            <a:spLocks/>
          </p:cNvSpPr>
          <p:nvPr userDrawn="1"/>
        </p:nvSpPr>
        <p:spPr>
          <a:xfrm>
            <a:off x="0" y="6552000"/>
            <a:ext cx="12192000" cy="3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ru-RU" sz="1000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29EFE0F-81A4-45B9-94C8-81C5DA679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31056" y="6597279"/>
            <a:ext cx="2180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 baseline="0">
                <a:solidFill>
                  <a:srgbClr val="404040"/>
                </a:solidFill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fld id="{FAF75358-90CF-4CFC-A3A1-1392029DBAD6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747FCF2-270E-4901-925C-F7D89C65AA3E}"/>
              </a:ext>
            </a:extLst>
          </p:cNvPr>
          <p:cNvSpPr txBox="1"/>
          <p:nvPr userDrawn="1"/>
        </p:nvSpPr>
        <p:spPr>
          <a:xfrm>
            <a:off x="10833100" y="6628056"/>
            <a:ext cx="723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kumimoji="1" lang="ja-JP" altLang="en-US" sz="1000">
                <a:solidFill>
                  <a:srgbClr val="404040"/>
                </a:solidFill>
              </a:rPr>
              <a:t>補足資料</a:t>
            </a:r>
            <a:endParaRPr kumimoji="1" lang="ru-RU" sz="1000">
              <a:solidFill>
                <a:srgbClr val="404040"/>
              </a:solidFill>
            </a:endParaRPr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109B0973-FCFA-45B9-A0FC-53928C187361}"/>
              </a:ext>
            </a:extLst>
          </p:cNvPr>
          <p:cNvSpPr txBox="1"/>
          <p:nvPr userDrawn="1"/>
        </p:nvSpPr>
        <p:spPr>
          <a:xfrm>
            <a:off x="334033" y="6640267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111983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　補足資料02_Appendix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6280CA26-0A20-4FAC-9BE6-3204BE4F31C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-2"/>
            <a:ext cx="3410584" cy="6858001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1D1823-4F22-4AFE-9EE6-78AF61CE8F1D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316708" y="3070445"/>
            <a:ext cx="2340000" cy="36933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baseline="0"/>
            </a:lvl1pPr>
          </a:lstStyle>
          <a:p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ja-JP" altLang="en-US">
              <a:solidFill>
                <a:srgbClr val="40404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FD0D73C-7199-4C9D-AE1D-A79D4E93075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191361"/>
            <a:ext cx="7442200" cy="1384995"/>
          </a:xfrm>
          <a:prstGeom prst="rect">
            <a:avLst/>
          </a:prstGeom>
        </p:spPr>
        <p:txBody>
          <a:bodyPr/>
          <a:lstStyle>
            <a:lvl1pPr fontAlgn="ctr">
              <a:spcAft>
                <a:spcPts val="300"/>
              </a:spcAft>
              <a:defRPr/>
            </a:lvl1pPr>
            <a:lvl2pPr fontAlgn="ctr">
              <a:spcAft>
                <a:spcPts val="300"/>
              </a:spcAft>
              <a:defRPr/>
            </a:lvl2pPr>
            <a:lvl3pPr fontAlgn="ctr">
              <a:spcAft>
                <a:spcPts val="300"/>
              </a:spcAft>
              <a:defRPr/>
            </a:lvl3pPr>
            <a:lvl4pPr fontAlgn="ctr">
              <a:spcAft>
                <a:spcPts val="300"/>
              </a:spcAft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lvl="0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(L1) – Paragraph Level 1</a:t>
            </a:r>
          </a:p>
          <a:p>
            <a:pPr lvl="1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(L2) – Paragraph Level 2</a:t>
            </a:r>
          </a:p>
          <a:p>
            <a:pPr lvl="2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(L3)  – Paragraph Level 3</a:t>
            </a:r>
          </a:p>
          <a:p>
            <a:pPr lvl="3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(L4) – Paragraph Level 4</a:t>
            </a:r>
            <a:endParaRPr lang="ru-RU" altLang="ja-JP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DAA82B-C86C-4A26-8893-E074927C6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67601"/>
            <a:ext cx="7920000" cy="332399"/>
          </a:xfrm>
          <a:prstGeom prst="rect">
            <a:avLst/>
          </a:prstGeom>
        </p:spPr>
        <p:txBody>
          <a:bodyPr vert="horz" lIns="0"/>
          <a:lstStyle>
            <a:lvl1pPr>
              <a:defRPr baseline="0"/>
            </a:lvl1pPr>
          </a:lstStyle>
          <a:p>
            <a:r>
              <a:rPr lang="ja-JP" altLang="en-US"/>
              <a:t>タイトル</a:t>
            </a:r>
            <a:r>
              <a:rPr lang="en-US" altLang="ja-JP"/>
              <a:t> </a:t>
            </a:r>
            <a:r>
              <a:rPr lang="en-US" altLang="ja-JP">
                <a:solidFill>
                  <a:srgbClr val="404040"/>
                </a:solidFill>
              </a:rPr>
              <a:t>–Title</a:t>
            </a:r>
            <a:endParaRPr kumimoji="1" lang="ru-RU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4DC93489-4607-4569-BFAC-3B3E6DE120D9}"/>
              </a:ext>
            </a:extLst>
          </p:cNvPr>
          <p:cNvSpPr>
            <a:spLocks/>
          </p:cNvSpPr>
          <p:nvPr userDrawn="1"/>
        </p:nvSpPr>
        <p:spPr>
          <a:xfrm>
            <a:off x="0" y="6552000"/>
            <a:ext cx="12192000" cy="3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ru-RU" sz="1000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8D2E42E-34C8-4997-891E-08698461DB05}"/>
              </a:ext>
            </a:extLst>
          </p:cNvPr>
          <p:cNvSpPr txBox="1"/>
          <p:nvPr userDrawn="1"/>
        </p:nvSpPr>
        <p:spPr>
          <a:xfrm>
            <a:off x="10833100" y="6628056"/>
            <a:ext cx="723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kumimoji="1" lang="ja-JP" altLang="en-US" sz="1000">
                <a:solidFill>
                  <a:srgbClr val="404040"/>
                </a:solidFill>
              </a:rPr>
              <a:t>補足資料</a:t>
            </a:r>
            <a:endParaRPr kumimoji="1" lang="ru-RU" sz="1000">
              <a:solidFill>
                <a:srgbClr val="404040"/>
              </a:solidFill>
            </a:endParaRP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3A7A76B8-5F30-4215-BDC5-7ED7FC501D86}"/>
              </a:ext>
            </a:extLst>
          </p:cNvPr>
          <p:cNvSpPr txBox="1"/>
          <p:nvPr userDrawn="1"/>
        </p:nvSpPr>
        <p:spPr>
          <a:xfrm>
            <a:off x="334033" y="6639163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3BD6748-2DFD-4AAC-9072-0980D4CF79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31056" y="6597279"/>
            <a:ext cx="2180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 baseline="0">
                <a:solidFill>
                  <a:srgbClr val="404040"/>
                </a:solidFill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fld id="{FAF75358-90CF-4CFC-A3A1-1392029DBAD6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346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.bin"/><Relationship Id="rId5" Type="http://schemas.openxmlformats.org/officeDocument/2006/relationships/tags" Target="../tags/tag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8227D5-F026-4943-B84E-A1308C8E22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799362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8" imgH="408" progId="TCLayout.ActiveDocument.1">
                  <p:embed/>
                </p:oleObj>
              </mc:Choice>
              <mc:Fallback>
                <p:oleObj name="think-cell Slide" r:id="rId16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8227D5-F026-4943-B84E-A1308C8E22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LogoText" hidden="1">
            <a:extLst>
              <a:ext uri="{FF2B5EF4-FFF2-40B4-BE49-F238E27FC236}">
                <a16:creationId xmlns:a16="http://schemas.microsoft.com/office/drawing/2014/main" id="{B09B9E97-66F7-4B9E-8B2B-67CE05D610D0}"/>
              </a:ext>
            </a:extLst>
          </p:cNvPr>
          <p:cNvSpPr txBox="1"/>
          <p:nvPr userDrawn="1"/>
        </p:nvSpPr>
        <p:spPr>
          <a:xfrm>
            <a:off x="10281196" y="6615212"/>
            <a:ext cx="125675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1000">
                <a:solidFill>
                  <a:schemeClr val="tx1"/>
                </a:solidFill>
              </a:rPr>
              <a:t>McKinsey &amp; Company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5" name="SlideLogoSeparator" hidden="1">
            <a:extLst>
              <a:ext uri="{FF2B5EF4-FFF2-40B4-BE49-F238E27FC236}">
                <a16:creationId xmlns:a16="http://schemas.microsoft.com/office/drawing/2014/main" id="{4BBBD867-A66B-4B55-B433-88C04FF29C2A}"/>
              </a:ext>
            </a:extLst>
          </p:cNvPr>
          <p:cNvSpPr txBox="1"/>
          <p:nvPr userDrawn="1"/>
        </p:nvSpPr>
        <p:spPr>
          <a:xfrm>
            <a:off x="11624874" y="6539984"/>
            <a:ext cx="40076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1200">
                <a:solidFill>
                  <a:schemeClr val="tx1"/>
                </a:solidFill>
              </a:rPr>
              <a:t>|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463C8B-A12F-48F4-B7DB-628F6A239A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67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697" r:id="rId4"/>
    <p:sldLayoutId id="2147483687" r:id="rId5"/>
    <p:sldLayoutId id="2147483709" r:id="rId6"/>
    <p:sldLayoutId id="2147483711" r:id="rId7"/>
    <p:sldLayoutId id="2147483700" r:id="rId8"/>
    <p:sldLayoutId id="2147483713" r:id="rId9"/>
    <p:sldLayoutId id="2147483696" r:id="rId10"/>
    <p:sldLayoutId id="2147483704" r:id="rId11"/>
    <p:sldLayoutId id="2147483714" r:id="rId12"/>
    <p:sldLayoutId id="2147483720" r:id="rId13"/>
  </p:sldLayoutIdLst>
  <p:hf hdr="0" ftr="0"/>
  <p:txStyles>
    <p:titleStyle>
      <a:lvl1pPr algn="l" rtl="0" eaLnBrk="1" fontAlgn="auto" hangingPunct="1">
        <a:lnSpc>
          <a:spcPct val="90000"/>
        </a:lnSpc>
        <a:spcBef>
          <a:spcPct val="0"/>
        </a:spcBef>
        <a:spcAft>
          <a:spcPct val="0"/>
        </a:spcAft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9pPr>
    </p:titleStyle>
    <p:bodyStyle>
      <a:lvl1pPr marL="0" indent="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FontTx/>
        <a:buNone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34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75000"/>
        <a:buFont typeface="Wingdings" panose="05000000000000000000" pitchFamily="2" charset="2"/>
        <a:buChar char="n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68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l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11200" indent="-244475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711200" indent="-244475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ru-RU" altLang="ja-JP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8227D5-F026-4943-B84E-A1308C8E22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78474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8" imgH="408" progId="TCLayout.ActiveDocument.1">
                  <p:embed/>
                </p:oleObj>
              </mc:Choice>
              <mc:Fallback>
                <p:oleObj name="think-cell Slide" r:id="rId6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8227D5-F026-4943-B84E-A1308C8E22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609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6" r:id="rId2"/>
    <p:sldLayoutId id="2147483717" r:id="rId3"/>
  </p:sldLayoutIdLst>
  <p:hf hdr="0" ftr="0"/>
  <p:txStyles>
    <p:titleStyle>
      <a:lvl1pPr algn="l" rtl="0" eaLnBrk="1" fontAlgn="auto" hangingPunct="1">
        <a:lnSpc>
          <a:spcPct val="90000"/>
        </a:lnSpc>
        <a:spcBef>
          <a:spcPct val="0"/>
        </a:spcBef>
        <a:spcAft>
          <a:spcPct val="0"/>
        </a:spcAft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9pPr>
    </p:titleStyle>
    <p:bodyStyle>
      <a:lvl1pPr marL="0" indent="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FontTx/>
        <a:buNone/>
        <a:defRPr kumimoji="1" lang="en-US" sz="1600" kern="120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234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75000"/>
        <a:buFont typeface="Wingdings" panose="05000000000000000000" pitchFamily="2" charset="2"/>
        <a:buChar char="n"/>
        <a:defRPr kumimoji="1" lang="en-US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68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l"/>
        <a:defRPr kumimoji="1" lang="en-US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02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702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furukawa.co.jp/en/ir/achievements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emf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jp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jpeg"/><Relationship Id="rId5" Type="http://schemas.openxmlformats.org/officeDocument/2006/relationships/image" Target="../media/image39.wmf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jp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hyperlink" Target="https://www.feti.h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D2A6C4E2-1464-4517-AA14-D8E575565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413029" y="3884766"/>
            <a:ext cx="5175002" cy="746358"/>
          </a:xfrm>
        </p:spPr>
        <p:txBody>
          <a:bodyPr wrap="square" lIns="91440" tIns="45720" rIns="91440" bIns="45720" anchor="t">
            <a:spAutoFit/>
          </a:bodyPr>
          <a:lstStyle/>
          <a:p>
            <a:r>
              <a:rPr lang="hu-HU" altLang="ja-JP" sz="2000">
                <a:solidFill>
                  <a:srgbClr val="000000"/>
                </a:solidFill>
                <a:latin typeface="Aptos"/>
              </a:rPr>
              <a:t>BRIDGING SCIENCE AND INDUSTRY </a:t>
            </a:r>
          </a:p>
          <a:p>
            <a:r>
              <a:rPr lang="hu-HU" altLang="ja-JP" sz="2000">
                <a:solidFill>
                  <a:srgbClr val="000000"/>
                </a:solidFill>
                <a:latin typeface="Aptos"/>
              </a:rPr>
              <a:t>WITH CUTTING-EDGE R&amp;D</a:t>
            </a:r>
            <a:endParaRPr lang="hu-HU" altLang="ja-JP" sz="200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78ED885-AB0B-411F-8767-E96B7511CA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029" y="3237842"/>
            <a:ext cx="6912000" cy="492443"/>
          </a:xfrm>
        </p:spPr>
        <p:txBody>
          <a:bodyPr lIns="91440" tIns="45720" rIns="91440" bIns="45720" anchor="b"/>
          <a:lstStyle/>
          <a:p>
            <a:r>
              <a:rPr lang="ja-JP" altLang="en-US">
                <a:cs typeface="Arial"/>
              </a:rPr>
              <a:t>F</a:t>
            </a:r>
            <a:r>
              <a:rPr lang="hu-HU" altLang="ja-JP" err="1">
                <a:cs typeface="Arial"/>
              </a:rPr>
              <a:t>urukawa</a:t>
            </a:r>
            <a:r>
              <a:rPr lang="hu-HU" altLang="ja-JP">
                <a:cs typeface="Arial"/>
              </a:rPr>
              <a:t> </a:t>
            </a:r>
            <a:r>
              <a:rPr lang="hu-HU" altLang="ja-JP" err="1">
                <a:cs typeface="Arial"/>
              </a:rPr>
              <a:t>Electric</a:t>
            </a:r>
            <a:r>
              <a:rPr lang="hu-HU" altLang="ja-JP">
                <a:cs typeface="Arial"/>
              </a:rPr>
              <a:t> Institute of </a:t>
            </a:r>
            <a:r>
              <a:rPr lang="hu-HU" altLang="ja-JP" err="1">
                <a:cs typeface="Arial"/>
              </a:rPr>
              <a:t>Technology</a:t>
            </a:r>
            <a:r>
              <a:rPr lang="hu-HU" altLang="ja-JP">
                <a:cs typeface="Arial"/>
              </a:rPr>
              <a:t> (FETI)</a:t>
            </a:r>
            <a:endParaRPr kumimoji="1"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1E0BE51-87EB-4555-8864-4007F66407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3" name="Kép 2" descr="A képen szöveg, képernyőkép, íróasztal, számítógép látható&#10;&#10;Automatikusan generált leírás">
            <a:extLst>
              <a:ext uri="{FF2B5EF4-FFF2-40B4-BE49-F238E27FC236}">
                <a16:creationId xmlns:a16="http://schemas.microsoft.com/office/drawing/2014/main" id="{177F8EC8-FD7E-B30A-E29C-7A80C21A4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15" b="2299"/>
          <a:stretch/>
        </p:blipFill>
        <p:spPr>
          <a:xfrm>
            <a:off x="7155543" y="1637043"/>
            <a:ext cx="4218857" cy="46606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302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2B276436-E269-4C99-8BDF-A34AF8FA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kern="0" dirty="0">
                <a:cs typeface="Arial" panose="020B0604020202020204" pitchFamily="34" charset="0"/>
              </a:rPr>
              <a:t>Corporate Profile</a:t>
            </a:r>
            <a:endParaRPr lang="ja-JP" altLang="en-US" kern="0" dirty="0"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A88D6-241B-4D94-8584-3ACBBEAC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36" y="6588570"/>
            <a:ext cx="5607606" cy="246221"/>
          </a:xfrm>
        </p:spPr>
        <p:txBody>
          <a:bodyPr/>
          <a:lstStyle/>
          <a:p>
            <a:pPr>
              <a:defRPr/>
            </a:pPr>
            <a:r>
              <a:rPr lang="en-US" dirty="0"/>
              <a:t>All Rights Reserved, Copyright© FURUKAWA ELECTRIC CO., LTD. </a:t>
            </a:r>
            <a:r>
              <a:rPr lang="en-US" altLang="ja-JP" dirty="0"/>
              <a:t>2025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8B6032-ADA3-48D0-8206-CA3FBC7D2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4864101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C2F6A6B-3561-4003-9FC4-155C05A5F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4505326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DF8849A-A059-48FC-BF85-BF60BBB37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4146551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0D50C65-FA22-461A-8379-ECB899BBF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3789364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4B580F3-7438-4247-A309-46186FD49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3432176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E7AA7C1B-00A9-46B4-B864-A0D45C295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3074989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AE5E8D43-6242-4CE3-AB59-CCDC49BA9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2716214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F5BB07C7-DBE8-4F1F-BBE8-D9FDB1806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687" y="2359026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530BE0A-827F-4EF9-A9BD-78B3687F4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737" y="1622426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FD2D54FB-80C6-44E1-A756-CD6AE7B36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9575" y="5156201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9995EF3B-F812-454B-AF04-D4E96B183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9575" y="4646614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7D33C8BC-929F-46FC-9CC6-0F30E7FE3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9575" y="4132264"/>
            <a:ext cx="6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ja-JP" altLang="ja-JP" sz="2300"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98DCE3-27E8-410B-914A-D78D62981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138" y="1328739"/>
            <a:ext cx="1282700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8C68EFC0-75CA-4DA9-9D43-E6660F4A3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565275"/>
            <a:ext cx="77788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ja-JP" altLang="en-US" dirty="0"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A577C77F-E0BD-478A-A6A3-85D702CC20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1173" y="1189626"/>
            <a:ext cx="2179329" cy="4200521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3A61FDD0-8E3D-4320-9F71-F5DA0F35C6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2284" y="1189626"/>
            <a:ext cx="2424951" cy="2784987"/>
          </a:xfrm>
          <a:prstGeom prst="rect">
            <a:avLst/>
          </a:prstGeom>
        </p:spPr>
      </p:pic>
      <p:sp>
        <p:nvSpPr>
          <p:cNvPr id="27" name="Text Box 21">
            <a:extLst>
              <a:ext uri="{FF2B5EF4-FFF2-40B4-BE49-F238E27FC236}">
                <a16:creationId xmlns:a16="http://schemas.microsoft.com/office/drawing/2014/main" id="{D3791E90-5195-442A-981F-5A0BE5387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19" y="1136111"/>
            <a:ext cx="10207519" cy="450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>
              <a:spcBef>
                <a:spcPct val="20000"/>
              </a:spcBef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71600" algn="l"/>
                <a:tab pos="1546225" algn="l"/>
                <a:tab pos="1657350" algn="l"/>
                <a:tab pos="2003425" algn="l"/>
              </a:tabLst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Company name:  </a:t>
            </a:r>
            <a:r>
              <a:rPr lang="ja-JP" altLang="en-US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Furukawa Electric Co., Ltd.</a:t>
            </a:r>
            <a:endParaRPr lang="ja-JP" altLang="en-US" sz="1800" dirty="0">
              <a:solidFill>
                <a:srgbClr val="5F5F5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President:           </a:t>
            </a:r>
            <a:r>
              <a:rPr lang="ja-JP" altLang="en-US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Hideya Moridaira</a:t>
            </a:r>
            <a:endParaRPr lang="ja-JP" altLang="en-US" sz="1800" dirty="0">
              <a:solidFill>
                <a:srgbClr val="5F5F5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Founded:</a:t>
            </a:r>
            <a:r>
              <a:rPr lang="ja-JP" altLang="en-US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1884</a:t>
            </a:r>
            <a:endParaRPr lang="ja-JP" altLang="en-US" sz="1800" b="1" dirty="0">
              <a:solidFill>
                <a:srgbClr val="5F5F5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Net sales:           </a:t>
            </a:r>
            <a:r>
              <a:rPr lang="ja-JP" altLang="en-US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1,066,326 million yen (Consolidated) **</a:t>
            </a:r>
            <a:endParaRPr lang="ja-JP" altLang="en-US" sz="1800" dirty="0">
              <a:solidFill>
                <a:srgbClr val="5F5F5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Employees:</a:t>
            </a:r>
            <a:r>
              <a:rPr lang="ja-JP" altLang="en-US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51,314 (Consolidated) </a:t>
            </a:r>
            <a:endParaRPr lang="hu-HU" altLang="ja-JP" sz="1800" b="1" dirty="0">
              <a:solidFill>
                <a:srgbClr val="5F5F5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  <a:spcBef>
                <a:spcPts val="1200"/>
              </a:spcBef>
              <a:tabLst>
                <a:tab pos="1795463" algn="l"/>
              </a:tabLst>
            </a:pP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Head office:</a:t>
            </a:r>
            <a:r>
              <a:rPr lang="ja-JP" altLang="en-US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	</a:t>
            </a:r>
            <a:r>
              <a:rPr lang="en-US" altLang="ja-JP" sz="1800" b="1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Tokyo </a:t>
            </a:r>
            <a:r>
              <a:rPr lang="en-US" altLang="ja-JP" sz="1800" dirty="0">
                <a:solidFill>
                  <a:srgbClr val="5F5F5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Japan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F8AAD3C1-78C6-4121-8A0E-15F00CAA5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685" y="5505929"/>
            <a:ext cx="3429145" cy="707388"/>
          </a:xfrm>
          <a:prstGeom prst="rect">
            <a:avLst/>
          </a:prstGeom>
        </p:spPr>
      </p:pic>
      <p:sp>
        <p:nvSpPr>
          <p:cNvPr id="30" name="動作設定ボタン: 空白 29">
            <a:hlinkClick r:id="rId6" highlightClick="1"/>
            <a:extLst>
              <a:ext uri="{FF2B5EF4-FFF2-40B4-BE49-F238E27FC236}">
                <a16:creationId xmlns:a16="http://schemas.microsoft.com/office/drawing/2014/main" id="{4AA838F6-6E96-467F-AAFD-66484097F3DA}"/>
              </a:ext>
            </a:extLst>
          </p:cNvPr>
          <p:cNvSpPr/>
          <p:nvPr/>
        </p:nvSpPr>
        <p:spPr bwMode="auto">
          <a:xfrm>
            <a:off x="8318682" y="5807762"/>
            <a:ext cx="2703224" cy="458757"/>
          </a:xfrm>
          <a:prstGeom prst="actionButtonBlank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1" hangingPunct="1">
              <a:spcBef>
                <a:spcPct val="0"/>
              </a:spcBef>
            </a:pPr>
            <a:endParaRPr lang="ja-JP" altLang="en-US" sz="1800" b="1" dirty="0">
              <a:solidFill>
                <a:srgbClr val="5F5F5F"/>
              </a:solidFill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C6C99-0681-D8EC-BDC9-A2A6DC19A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14" y="4075255"/>
            <a:ext cx="6237923" cy="230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7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543F939-F21A-39E9-E674-62280789B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19" y="1783847"/>
            <a:ext cx="4545366" cy="43879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9EA0F7C-1220-4BBE-919B-444E54315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54" y="1909705"/>
            <a:ext cx="4381082" cy="410877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184389B-0C42-4FD2-9020-CC74D043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49" y="161474"/>
            <a:ext cx="9428327" cy="642040"/>
          </a:xfrm>
        </p:spPr>
        <p:txBody>
          <a:bodyPr/>
          <a:lstStyle/>
          <a:p>
            <a:r>
              <a:rPr lang="en-US" altLang="ja-JP" dirty="0"/>
              <a:t>Major Products and Services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843DBE-988A-43D1-B469-CE459131B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36" y="6588570"/>
            <a:ext cx="5607606" cy="246221"/>
          </a:xfrm>
        </p:spPr>
        <p:txBody>
          <a:bodyPr/>
          <a:lstStyle/>
          <a:p>
            <a:pPr>
              <a:defRPr/>
            </a:pPr>
            <a:r>
              <a:rPr lang="en-US" dirty="0"/>
              <a:t>All Rights Reserved, Copyright© FURUKAWA ELECTRIC CO., LTD. 2025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430CD662-C85E-46B1-93FF-69EBE2D4B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543" y="1464953"/>
            <a:ext cx="2578205" cy="39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lnSpc>
                <a:spcPts val="2200"/>
              </a:lnSpc>
              <a:spcBef>
                <a:spcPct val="50000"/>
              </a:spcBef>
            </a:pPr>
            <a:r>
              <a:rPr lang="en-US" altLang="ja-JP" sz="3200" b="1" dirty="0">
                <a:solidFill>
                  <a:srgbClr val="CC0000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3</a:t>
            </a:r>
            <a:r>
              <a:rPr lang="ja-JP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1600" b="1" dirty="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Business Segments</a:t>
            </a:r>
            <a:endParaRPr lang="ja-JP" altLang="en-US" sz="1600" b="1" dirty="0">
              <a:solidFill>
                <a:srgbClr val="404040"/>
              </a:solidFill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BE755A2-24C1-4C56-8D97-99C500992A42}"/>
              </a:ext>
            </a:extLst>
          </p:cNvPr>
          <p:cNvSpPr/>
          <p:nvPr/>
        </p:nvSpPr>
        <p:spPr>
          <a:xfrm>
            <a:off x="6828562" y="1058100"/>
            <a:ext cx="2907334" cy="611312"/>
          </a:xfrm>
          <a:prstGeom prst="rect">
            <a:avLst/>
          </a:prstGeom>
        </p:spPr>
        <p:txBody>
          <a:bodyPr wrap="none" tIns="72000">
            <a:spAutoFit/>
          </a:bodyPr>
          <a:lstStyle/>
          <a:p>
            <a:r>
              <a:rPr lang="en-US" altLang="ja-JP" sz="16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Total </a:t>
            </a:r>
            <a:r>
              <a:rPr lang="en-US" altLang="ja-JP" sz="3200" b="1" dirty="0">
                <a:solidFill>
                  <a:srgbClr val="0070C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1,066.3</a:t>
            </a:r>
            <a:r>
              <a:rPr lang="en-US" altLang="ja-JP" sz="12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billion yen*</a:t>
            </a:r>
            <a:endParaRPr lang="en-US" altLang="ja-JP" sz="9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65AB069-BAA2-470E-B622-C360B8FFB627}"/>
              </a:ext>
            </a:extLst>
          </p:cNvPr>
          <p:cNvSpPr txBox="1"/>
          <p:nvPr/>
        </p:nvSpPr>
        <p:spPr bwMode="auto">
          <a:xfrm>
            <a:off x="6972507" y="1575393"/>
            <a:ext cx="2645276" cy="22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en-US" altLang="ja-JP" sz="1000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*Intra-company transactions are eliminated.</a:t>
            </a:r>
            <a:endParaRPr lang="ja-JP" altLang="en-US" sz="1000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</a:pPr>
            <a:endParaRPr lang="ja-JP" altLang="en-US" sz="1000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E0D8ABF-9E03-4B4C-AB0C-0C90CC5880B6}"/>
              </a:ext>
            </a:extLst>
          </p:cNvPr>
          <p:cNvSpPr txBox="1"/>
          <p:nvPr/>
        </p:nvSpPr>
        <p:spPr>
          <a:xfrm>
            <a:off x="8807896" y="2149664"/>
            <a:ext cx="1377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rgbClr val="404040"/>
                </a:solidFill>
                <a:effectLst>
                  <a:glow rad="101600">
                    <a:schemeClr val="bg1"/>
                  </a:glow>
                </a:effectLst>
                <a:ea typeface="Arial Unicode MS" panose="020B0604020202020204" pitchFamily="50" charset="-128"/>
                <a:cs typeface="Arial" panose="020B0604020202020204" pitchFamily="34" charset="0"/>
              </a:rPr>
              <a:t>Communications</a:t>
            </a:r>
          </a:p>
          <a:p>
            <a:pPr algn="ctr"/>
            <a:r>
              <a:rPr lang="en-US" altLang="ja-JP" sz="1100" b="1" dirty="0">
                <a:solidFill>
                  <a:srgbClr val="404040"/>
                </a:solidFill>
                <a:effectLst>
                  <a:glow rad="101600">
                    <a:schemeClr val="bg1"/>
                  </a:glow>
                </a:effectLst>
                <a:ea typeface="Arial Unicode MS" panose="020B0604020202020204" pitchFamily="50" charset="-128"/>
                <a:cs typeface="Arial" panose="020B0604020202020204" pitchFamily="34" charset="0"/>
              </a:rPr>
              <a:t>Solutions</a:t>
            </a:r>
          </a:p>
          <a:p>
            <a:pPr algn="ctr"/>
            <a:r>
              <a:rPr lang="en-US" altLang="ja-JP" sz="1400" b="1" dirty="0">
                <a:solidFill>
                  <a:srgbClr val="404040"/>
                </a:solidFill>
                <a:effectLst>
                  <a:glow rad="101600">
                    <a:schemeClr val="bg1"/>
                  </a:glow>
                </a:effectLst>
                <a:ea typeface="Arial Unicode MS" panose="020B0604020202020204" pitchFamily="50" charset="-128"/>
                <a:cs typeface="Arial" panose="020B0604020202020204" pitchFamily="34" charset="0"/>
              </a:rPr>
              <a:t>217.6 </a:t>
            </a:r>
            <a:r>
              <a:rPr lang="en-US" altLang="ja-JP" sz="1100" b="1" dirty="0">
                <a:solidFill>
                  <a:srgbClr val="404040"/>
                </a:solidFill>
                <a:effectLst>
                  <a:glow rad="101600">
                    <a:schemeClr val="bg1"/>
                  </a:glow>
                </a:effectLst>
                <a:ea typeface="Arial Unicode MS" panose="020B0604020202020204" pitchFamily="50" charset="-128"/>
                <a:cs typeface="Arial" panose="020B0604020202020204" pitchFamily="34" charset="0"/>
              </a:rPr>
              <a:t>billion yen</a:t>
            </a:r>
            <a:endParaRPr lang="ja-JP" altLang="en-US" sz="1100" b="1" dirty="0">
              <a:solidFill>
                <a:srgbClr val="404040"/>
              </a:solidFill>
              <a:effectLst>
                <a:glow rad="101600">
                  <a:schemeClr val="bg1"/>
                </a:glow>
              </a:effectLst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924FCE4-2A05-4A8A-8AB2-51FD25789655}"/>
              </a:ext>
            </a:extLst>
          </p:cNvPr>
          <p:cNvCxnSpPr/>
          <p:nvPr/>
        </p:nvCxnSpPr>
        <p:spPr bwMode="auto">
          <a:xfrm>
            <a:off x="8045435" y="3029174"/>
            <a:ext cx="0" cy="0"/>
          </a:xfrm>
          <a:prstGeom prst="line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5CF0996-0C62-4598-8AE2-5BA28CC81909}"/>
              </a:ext>
            </a:extLst>
          </p:cNvPr>
          <p:cNvSpPr txBox="1"/>
          <p:nvPr/>
        </p:nvSpPr>
        <p:spPr>
          <a:xfrm>
            <a:off x="9508375" y="3713543"/>
            <a:ext cx="161775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Energy Infrastructure</a:t>
            </a:r>
          </a:p>
          <a:p>
            <a:pPr algn="ctr"/>
            <a:r>
              <a:rPr lang="en-US" altLang="ja-JP" sz="14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106.3</a:t>
            </a: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billion yen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9F4CD21-62E9-4CE4-B3B2-336A90025043}"/>
              </a:ext>
            </a:extLst>
          </p:cNvPr>
          <p:cNvSpPr txBox="1"/>
          <p:nvPr/>
        </p:nvSpPr>
        <p:spPr>
          <a:xfrm>
            <a:off x="8375865" y="5125150"/>
            <a:ext cx="1611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Automotive Products</a:t>
            </a:r>
          </a:p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&amp; Batteries</a:t>
            </a:r>
          </a:p>
          <a:p>
            <a:pPr algn="ctr"/>
            <a:r>
              <a:rPr lang="en-US" altLang="ja-JP" sz="14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337.4</a:t>
            </a: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billion yen</a:t>
            </a:r>
            <a:endParaRPr lang="ja-JP" altLang="en-US"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9D4B54F-CFB9-4601-8B4C-B318FB997A55}"/>
              </a:ext>
            </a:extLst>
          </p:cNvPr>
          <p:cNvSpPr txBox="1"/>
          <p:nvPr/>
        </p:nvSpPr>
        <p:spPr>
          <a:xfrm>
            <a:off x="5471968" y="3463456"/>
            <a:ext cx="1617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Electronics</a:t>
            </a:r>
          </a:p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Component Materials</a:t>
            </a:r>
          </a:p>
          <a:p>
            <a:pPr algn="ctr"/>
            <a:r>
              <a:rPr lang="en-US" altLang="ja-JP" sz="14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273.0</a:t>
            </a: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billion yen</a:t>
            </a:r>
            <a:endParaRPr lang="ja-JP" altLang="en-US"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997A894C-7512-412F-B1C0-453A02AA9B38}"/>
              </a:ext>
            </a:extLst>
          </p:cNvPr>
          <p:cNvSpPr/>
          <p:nvPr/>
        </p:nvSpPr>
        <p:spPr bwMode="auto">
          <a:xfrm rot="4108684">
            <a:off x="7026385" y="4367849"/>
            <a:ext cx="334486" cy="771844"/>
          </a:xfrm>
          <a:prstGeom prst="triangle">
            <a:avLst>
              <a:gd name="adj" fmla="val 48857"/>
            </a:avLst>
          </a:prstGeom>
          <a:solidFill>
            <a:srgbClr val="FFC000"/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eaLnBrk="1" hangingPunct="1"/>
            <a:endParaRPr lang="ja-JP" altLang="en-US" sz="1050">
              <a:solidFill>
                <a:srgbClr val="404040"/>
              </a:solidFill>
              <a:cs typeface="Arial" panose="020B0604020202020204" pitchFamily="34" charset="0"/>
            </a:endParaRPr>
          </a:p>
        </p:txBody>
      </p:sp>
      <p:sp>
        <p:nvSpPr>
          <p:cNvPr id="30" name="テキスト ボックス 28">
            <a:extLst>
              <a:ext uri="{FF2B5EF4-FFF2-40B4-BE49-F238E27FC236}">
                <a16:creationId xmlns:a16="http://schemas.microsoft.com/office/drawing/2014/main" id="{2D1014AE-6449-44D7-8300-AB11E287E932}"/>
              </a:ext>
            </a:extLst>
          </p:cNvPr>
          <p:cNvSpPr txBox="1"/>
          <p:nvPr/>
        </p:nvSpPr>
        <p:spPr>
          <a:xfrm>
            <a:off x="4827384" y="4409586"/>
            <a:ext cx="2173268" cy="901390"/>
          </a:xfrm>
          <a:prstGeom prst="rect">
            <a:avLst/>
          </a:prstGeom>
          <a:solidFill>
            <a:srgbClr val="FFC000"/>
          </a:solidFill>
        </p:spPr>
        <p:txBody>
          <a:bodyPr wrap="none" tIns="108000" bIns="0" rtlCol="0">
            <a:noAutofit/>
          </a:bodyPr>
          <a:lstStyle>
            <a:defPPr>
              <a:defRPr lang="ja-JP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Electronics </a:t>
            </a:r>
            <a:r>
              <a:rPr lang="ja-JP" altLang="en-US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＆ </a:t>
            </a:r>
            <a:endParaRPr lang="en-US" altLang="ja-JP" sz="14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  <a:p>
            <a:pPr algn="ctr"/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Automotive</a:t>
            </a:r>
            <a:r>
              <a:rPr lang="ja-JP" altLang="en-US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Systems</a:t>
            </a:r>
          </a:p>
          <a:p>
            <a:pPr algn="ctr"/>
            <a:r>
              <a:rPr lang="en-US" altLang="ja-JP" sz="2000" b="1" dirty="0">
                <a:ea typeface="Arial Unicode MS" panose="020B0604020202020204" pitchFamily="50" charset="-128"/>
                <a:cs typeface="Arial" panose="020B0604020202020204" pitchFamily="34" charset="0"/>
              </a:rPr>
              <a:t>610.3 </a:t>
            </a:r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billion yen</a:t>
            </a:r>
            <a:endParaRPr lang="ja-JP" altLang="en-US" sz="14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16997C21-9610-4861-BAE5-3577C394A0A0}"/>
              </a:ext>
            </a:extLst>
          </p:cNvPr>
          <p:cNvSpPr/>
          <p:nvPr/>
        </p:nvSpPr>
        <p:spPr bwMode="auto">
          <a:xfrm rot="15453654">
            <a:off x="9349349" y="2846762"/>
            <a:ext cx="351427" cy="1038060"/>
          </a:xfrm>
          <a:prstGeom prst="triangle">
            <a:avLst>
              <a:gd name="adj" fmla="val 4885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eaLnBrk="1" hangingPunct="1"/>
            <a:endParaRPr lang="ja-JP" altLang="en-US" sz="1050">
              <a:solidFill>
                <a:srgbClr val="404040"/>
              </a:solidFill>
              <a:cs typeface="Arial" panose="020B0604020202020204" pitchFamily="34" charset="0"/>
            </a:endParaRPr>
          </a:p>
        </p:txBody>
      </p:sp>
      <p:sp>
        <p:nvSpPr>
          <p:cNvPr id="32" name="テキスト ボックス 30">
            <a:extLst>
              <a:ext uri="{FF2B5EF4-FFF2-40B4-BE49-F238E27FC236}">
                <a16:creationId xmlns:a16="http://schemas.microsoft.com/office/drawing/2014/main" id="{970C18FB-BAFD-4B7D-9BC7-FFDA081B0CE1}"/>
              </a:ext>
            </a:extLst>
          </p:cNvPr>
          <p:cNvSpPr txBox="1"/>
          <p:nvPr/>
        </p:nvSpPr>
        <p:spPr>
          <a:xfrm>
            <a:off x="9710734" y="2928742"/>
            <a:ext cx="1814114" cy="646432"/>
          </a:xfrm>
          <a:prstGeom prst="rect">
            <a:avLst/>
          </a:prstGeom>
          <a:solidFill>
            <a:srgbClr val="0070C0"/>
          </a:solidFill>
        </p:spPr>
        <p:txBody>
          <a:bodyPr wrap="none" tIns="72000" rtlCol="0">
            <a:noAutofit/>
          </a:bodyPr>
          <a:lstStyle>
            <a:defPPr>
              <a:defRPr lang="ja-JP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100" kern="1200">
                <a:solidFill>
                  <a:schemeClr val="bg1"/>
                </a:solidFill>
                <a:latin typeface="Arial" panose="020B0604020202020204" pitchFamily="34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Infrastructure</a:t>
            </a:r>
          </a:p>
          <a:p>
            <a:pPr algn="ctr"/>
            <a:r>
              <a:rPr lang="en-US" altLang="ja-JP" sz="2000" b="1" dirty="0">
                <a:ea typeface="Arial Unicode MS" panose="020B0604020202020204" pitchFamily="50" charset="-128"/>
                <a:cs typeface="Arial" panose="020B0604020202020204" pitchFamily="34" charset="0"/>
              </a:rPr>
              <a:t>323.9</a:t>
            </a:r>
            <a:r>
              <a:rPr lang="en-US" altLang="ja-JP" sz="1400" b="1" dirty="0">
                <a:ea typeface="Arial Unicode MS" panose="020B0604020202020204" pitchFamily="50" charset="-128"/>
                <a:cs typeface="Arial" panose="020B0604020202020204" pitchFamily="34" charset="0"/>
              </a:rPr>
              <a:t> billion yen</a:t>
            </a:r>
            <a:endParaRPr lang="ja-JP" altLang="en-US" sz="14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9" name="テキスト ボックス 27">
            <a:extLst>
              <a:ext uri="{FF2B5EF4-FFF2-40B4-BE49-F238E27FC236}">
                <a16:creationId xmlns:a16="http://schemas.microsoft.com/office/drawing/2014/main" id="{5D943FA0-2D16-257F-AD55-4F98CFB0AD33}"/>
              </a:ext>
            </a:extLst>
          </p:cNvPr>
          <p:cNvSpPr txBox="1"/>
          <p:nvPr/>
        </p:nvSpPr>
        <p:spPr>
          <a:xfrm>
            <a:off x="5998848" y="2149664"/>
            <a:ext cx="15488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Functional</a:t>
            </a:r>
            <a:r>
              <a:rPr lang="ja-JP" alt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Products</a:t>
            </a:r>
          </a:p>
          <a:p>
            <a:pPr algn="ctr"/>
            <a:r>
              <a:rPr lang="en-US" altLang="ja-JP" sz="14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126.5</a:t>
            </a: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billion yen</a:t>
            </a:r>
            <a:endParaRPr lang="ja-JP" altLang="en-US"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4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2F354-731A-4509-A696-3103A60A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4" y="194887"/>
            <a:ext cx="9428327" cy="642040"/>
          </a:xfrm>
        </p:spPr>
        <p:txBody>
          <a:bodyPr/>
          <a:lstStyle/>
          <a:p>
            <a:r>
              <a:rPr lang="en-US" altLang="ja-JP" dirty="0"/>
              <a:t>Major Products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961F06-091E-45E6-8AB2-4400B3503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36" y="6588570"/>
            <a:ext cx="5607606" cy="246221"/>
          </a:xfrm>
        </p:spPr>
        <p:txBody>
          <a:bodyPr/>
          <a:lstStyle/>
          <a:p>
            <a:pPr>
              <a:defRPr/>
            </a:pPr>
            <a:r>
              <a:rPr lang="en-US" dirty="0"/>
              <a:t>All Rights Reserved, Copyright© FURUKAWA ELECTRIC CO., LTD. 2025</a:t>
            </a:r>
          </a:p>
        </p:txBody>
      </p:sp>
      <p:sp>
        <p:nvSpPr>
          <p:cNvPr id="62" name="Text Box 3">
            <a:extLst>
              <a:ext uri="{FF2B5EF4-FFF2-40B4-BE49-F238E27FC236}">
                <a16:creationId xmlns:a16="http://schemas.microsoft.com/office/drawing/2014/main" id="{53BC4D77-F1A9-43E1-992D-48A4C16EF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0" y="954000"/>
            <a:ext cx="3536212" cy="55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ts val="1100"/>
              </a:lnSpc>
              <a:spcBef>
                <a:spcPct val="50000"/>
              </a:spcBef>
            </a:pPr>
            <a:r>
              <a:rPr lang="en-US" altLang="ja-JP" sz="2000" b="1" dirty="0">
                <a:solidFill>
                  <a:srgbClr val="0070C0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Products with Top Level of</a:t>
            </a:r>
          </a:p>
          <a:p>
            <a:pPr eaLnBrk="1" hangingPunct="1">
              <a:lnSpc>
                <a:spcPts val="1100"/>
              </a:lnSpc>
              <a:spcBef>
                <a:spcPct val="50000"/>
              </a:spcBef>
            </a:pPr>
            <a:r>
              <a:rPr lang="en-US" altLang="ja-JP" sz="2000" b="1" dirty="0">
                <a:solidFill>
                  <a:srgbClr val="0070C0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Market Share</a:t>
            </a:r>
            <a:endParaRPr lang="ja-JP" altLang="en-US" sz="2000" b="1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63" name="図 62">
            <a:extLst>
              <a:ext uri="{FF2B5EF4-FFF2-40B4-BE49-F238E27FC236}">
                <a16:creationId xmlns:a16="http://schemas.microsoft.com/office/drawing/2014/main" id="{2D499EB0-6419-4B37-8928-766851F3E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485" y="1095429"/>
            <a:ext cx="8953956" cy="5313184"/>
          </a:xfrm>
          <a:prstGeom prst="rect">
            <a:avLst/>
          </a:prstGeom>
        </p:spPr>
      </p:pic>
      <p:sp>
        <p:nvSpPr>
          <p:cNvPr id="68" name="object 22">
            <a:extLst>
              <a:ext uri="{FF2B5EF4-FFF2-40B4-BE49-F238E27FC236}">
                <a16:creationId xmlns:a16="http://schemas.microsoft.com/office/drawing/2014/main" id="{0EAEC7BB-97F0-4AA6-9673-57A64B208F9E}"/>
              </a:ext>
            </a:extLst>
          </p:cNvPr>
          <p:cNvSpPr txBox="1"/>
          <p:nvPr/>
        </p:nvSpPr>
        <p:spPr>
          <a:xfrm>
            <a:off x="2666969" y="2105229"/>
            <a:ext cx="2008301" cy="49949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Steering Roll Connectors</a:t>
            </a:r>
          </a:p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(SRCs)</a:t>
            </a:r>
          </a:p>
          <a:p>
            <a:pPr algn="ctr">
              <a:spcBef>
                <a:spcPts val="0"/>
              </a:spcBef>
            </a:pPr>
            <a:endParaRPr sz="3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66" name="object 25">
            <a:extLst>
              <a:ext uri="{FF2B5EF4-FFF2-40B4-BE49-F238E27FC236}">
                <a16:creationId xmlns:a16="http://schemas.microsoft.com/office/drawing/2014/main" id="{8C6738A6-BA40-4745-BEF1-4C8FEF2965CE}"/>
              </a:ext>
            </a:extLst>
          </p:cNvPr>
          <p:cNvSpPr>
            <a:spLocks noChangeAspect="1"/>
          </p:cNvSpPr>
          <p:nvPr/>
        </p:nvSpPr>
        <p:spPr>
          <a:xfrm>
            <a:off x="2871068" y="2562485"/>
            <a:ext cx="1620000" cy="186508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54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World's top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71" name="object 6">
            <a:extLst>
              <a:ext uri="{FF2B5EF4-FFF2-40B4-BE49-F238E27FC236}">
                <a16:creationId xmlns:a16="http://schemas.microsoft.com/office/drawing/2014/main" id="{CDF4CFD5-D1DC-436A-B7A5-BB18A0A31912}"/>
              </a:ext>
            </a:extLst>
          </p:cNvPr>
          <p:cNvSpPr txBox="1"/>
          <p:nvPr/>
        </p:nvSpPr>
        <p:spPr>
          <a:xfrm>
            <a:off x="4711701" y="1832177"/>
            <a:ext cx="1625014" cy="20178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ctr">
              <a:lnSpc>
                <a:spcPts val="700"/>
              </a:lnSpc>
              <a:spcBef>
                <a:spcPts val="775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Wire Harnesses</a:t>
            </a:r>
            <a:endParaRPr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72" name="object 25">
            <a:extLst>
              <a:ext uri="{FF2B5EF4-FFF2-40B4-BE49-F238E27FC236}">
                <a16:creationId xmlns:a16="http://schemas.microsoft.com/office/drawing/2014/main" id="{72D5EEF7-6BB8-4650-8E72-977963D637DF}"/>
              </a:ext>
            </a:extLst>
          </p:cNvPr>
          <p:cNvSpPr/>
          <p:nvPr/>
        </p:nvSpPr>
        <p:spPr>
          <a:xfrm>
            <a:off x="4606208" y="2055839"/>
            <a:ext cx="1836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DB677A"/>
          </a:solidFill>
        </p:spPr>
        <p:txBody>
          <a:bodyPr wrap="none" lIns="0" tIns="54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Domestic-leading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74" name="object 28">
            <a:extLst>
              <a:ext uri="{FF2B5EF4-FFF2-40B4-BE49-F238E27FC236}">
                <a16:creationId xmlns:a16="http://schemas.microsoft.com/office/drawing/2014/main" id="{A4EE8D48-8B5C-4B26-A7EE-AA155E23CB8E}"/>
              </a:ext>
            </a:extLst>
          </p:cNvPr>
          <p:cNvSpPr/>
          <p:nvPr/>
        </p:nvSpPr>
        <p:spPr>
          <a:xfrm>
            <a:off x="8547296" y="976507"/>
            <a:ext cx="1245542" cy="899555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>
              <a:lnSpc>
                <a:spcPts val="700"/>
              </a:lnSpc>
            </a:pPr>
            <a:endParaRPr sz="700" b="1">
              <a:ea typeface="メイリオ" panose="020B0604030504040204" pitchFamily="50" charset="-128"/>
            </a:endParaRPr>
          </a:p>
        </p:txBody>
      </p:sp>
      <p:sp>
        <p:nvSpPr>
          <p:cNvPr id="75" name="object 30">
            <a:extLst>
              <a:ext uri="{FF2B5EF4-FFF2-40B4-BE49-F238E27FC236}">
                <a16:creationId xmlns:a16="http://schemas.microsoft.com/office/drawing/2014/main" id="{4E922E51-A953-4C1C-891E-6BAB022FCC22}"/>
              </a:ext>
            </a:extLst>
          </p:cNvPr>
          <p:cNvSpPr txBox="1"/>
          <p:nvPr/>
        </p:nvSpPr>
        <p:spPr>
          <a:xfrm>
            <a:off x="8189653" y="1844934"/>
            <a:ext cx="1960829" cy="35888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Variable wavelength</a:t>
            </a:r>
          </a:p>
          <a:p>
            <a:pPr algn="ctr">
              <a:lnSpc>
                <a:spcPts val="1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laser modules</a:t>
            </a:r>
            <a:endParaRPr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76" name="object 25">
            <a:extLst>
              <a:ext uri="{FF2B5EF4-FFF2-40B4-BE49-F238E27FC236}">
                <a16:creationId xmlns:a16="http://schemas.microsoft.com/office/drawing/2014/main" id="{B101291E-CFAD-40CB-BC0E-7BDA43A59A80}"/>
              </a:ext>
            </a:extLst>
          </p:cNvPr>
          <p:cNvSpPr/>
          <p:nvPr/>
        </p:nvSpPr>
        <p:spPr>
          <a:xfrm>
            <a:off x="8360067" y="2212462"/>
            <a:ext cx="1620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World-leading market share</a:t>
            </a:r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3A740789-4D28-4773-9032-E0EBF39A32D0}"/>
              </a:ext>
            </a:extLst>
          </p:cNvPr>
          <p:cNvGrpSpPr/>
          <p:nvPr/>
        </p:nvGrpSpPr>
        <p:grpSpPr>
          <a:xfrm>
            <a:off x="2903554" y="4979266"/>
            <a:ext cx="1382777" cy="918266"/>
            <a:chOff x="2740224" y="5237904"/>
            <a:chExt cx="1202415" cy="798492"/>
          </a:xfrm>
        </p:grpSpPr>
        <p:sp>
          <p:nvSpPr>
            <p:cNvPr id="81" name="object 43">
              <a:extLst>
                <a:ext uri="{FF2B5EF4-FFF2-40B4-BE49-F238E27FC236}">
                  <a16:creationId xmlns:a16="http://schemas.microsoft.com/office/drawing/2014/main" id="{0730B712-C1AF-4E4A-B8DE-2BC12759077D}"/>
                </a:ext>
              </a:extLst>
            </p:cNvPr>
            <p:cNvSpPr/>
            <p:nvPr/>
          </p:nvSpPr>
          <p:spPr>
            <a:xfrm>
              <a:off x="2740224" y="5237904"/>
              <a:ext cx="1202415" cy="798492"/>
            </a:xfrm>
            <a:custGeom>
              <a:avLst/>
              <a:gdLst/>
              <a:ahLst/>
              <a:cxnLst/>
              <a:rect l="l" t="t" r="r" b="b"/>
              <a:pathLst>
                <a:path w="2658109" h="2086609">
                  <a:moveTo>
                    <a:pt x="2546296" y="0"/>
                  </a:moveTo>
                  <a:lnTo>
                    <a:pt x="111183" y="0"/>
                  </a:lnTo>
                  <a:lnTo>
                    <a:pt x="67905" y="8738"/>
                  </a:lnTo>
                  <a:lnTo>
                    <a:pt x="32564" y="32567"/>
                  </a:lnTo>
                  <a:lnTo>
                    <a:pt x="8737" y="67910"/>
                  </a:lnTo>
                  <a:lnTo>
                    <a:pt x="0" y="111190"/>
                  </a:lnTo>
                  <a:lnTo>
                    <a:pt x="0" y="1975072"/>
                  </a:lnTo>
                  <a:lnTo>
                    <a:pt x="8737" y="2018350"/>
                  </a:lnTo>
                  <a:lnTo>
                    <a:pt x="32564" y="2053691"/>
                  </a:lnTo>
                  <a:lnTo>
                    <a:pt x="67905" y="2077518"/>
                  </a:lnTo>
                  <a:lnTo>
                    <a:pt x="111183" y="2086255"/>
                  </a:lnTo>
                  <a:lnTo>
                    <a:pt x="2546296" y="2086255"/>
                  </a:lnTo>
                  <a:lnTo>
                    <a:pt x="2589575" y="2077518"/>
                  </a:lnTo>
                  <a:lnTo>
                    <a:pt x="2624918" y="2053691"/>
                  </a:lnTo>
                  <a:lnTo>
                    <a:pt x="2648748" y="2018350"/>
                  </a:lnTo>
                  <a:lnTo>
                    <a:pt x="2657486" y="1975072"/>
                  </a:lnTo>
                  <a:lnTo>
                    <a:pt x="2657486" y="111190"/>
                  </a:lnTo>
                  <a:lnTo>
                    <a:pt x="2648748" y="67910"/>
                  </a:lnTo>
                  <a:lnTo>
                    <a:pt x="2624918" y="32567"/>
                  </a:lnTo>
                  <a:lnTo>
                    <a:pt x="2589575" y="8738"/>
                  </a:lnTo>
                  <a:lnTo>
                    <a:pt x="2546296" y="0"/>
                  </a:lnTo>
                  <a:close/>
                </a:path>
              </a:pathLst>
            </a:custGeom>
            <a:solidFill>
              <a:srgbClr val="BCE6FB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ts val="700"/>
                </a:lnSpc>
              </a:pPr>
              <a:endParaRPr sz="700" b="1" dirty="0">
                <a:ea typeface="メイリオ" panose="020B0604030504040204" pitchFamily="50" charset="-128"/>
              </a:endParaRPr>
            </a:p>
          </p:txBody>
        </p:sp>
        <p:sp>
          <p:nvSpPr>
            <p:cNvPr id="82" name="object 45">
              <a:extLst>
                <a:ext uri="{FF2B5EF4-FFF2-40B4-BE49-F238E27FC236}">
                  <a16:creationId xmlns:a16="http://schemas.microsoft.com/office/drawing/2014/main" id="{6A2F2898-D132-4608-9AFA-AE85C2EB3262}"/>
                </a:ext>
              </a:extLst>
            </p:cNvPr>
            <p:cNvSpPr/>
            <p:nvPr/>
          </p:nvSpPr>
          <p:spPr>
            <a:xfrm>
              <a:off x="3009295" y="5261919"/>
              <a:ext cx="664272" cy="751681"/>
            </a:xfrm>
            <a:prstGeom prst="rect">
              <a:avLst/>
            </a:pr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>
                <a:lnSpc>
                  <a:spcPts val="700"/>
                </a:lnSpc>
              </a:pPr>
              <a:endParaRPr sz="700" b="1">
                <a:ea typeface="メイリオ" panose="020B0604030504040204" pitchFamily="50" charset="-128"/>
              </a:endParaRPr>
            </a:p>
          </p:txBody>
        </p:sp>
      </p:grpSp>
      <p:sp>
        <p:nvSpPr>
          <p:cNvPr id="79" name="object 47">
            <a:extLst>
              <a:ext uri="{FF2B5EF4-FFF2-40B4-BE49-F238E27FC236}">
                <a16:creationId xmlns:a16="http://schemas.microsoft.com/office/drawing/2014/main" id="{DD43B0AE-7408-40D1-A13A-F4134314F7E1}"/>
              </a:ext>
            </a:extLst>
          </p:cNvPr>
          <p:cNvSpPr txBox="1"/>
          <p:nvPr/>
        </p:nvSpPr>
        <p:spPr>
          <a:xfrm>
            <a:off x="2514614" y="5959275"/>
            <a:ext cx="2160656" cy="19883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>
            <a:defPPr>
              <a:defRPr lang="ja-JP"/>
            </a:defPPr>
            <a:lvl1pPr algn="ctr">
              <a:lnSpc>
                <a:spcPts val="700"/>
              </a:lnSpc>
              <a:spcBef>
                <a:spcPts val="775"/>
              </a:spcBef>
              <a:defRPr sz="700" b="1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-OTF UD新ゴ Pro R"/>
              </a:defRPr>
            </a:lvl1pPr>
          </a:lstStyle>
          <a:p>
            <a:r>
              <a:rPr lang="en-US" sz="1100" dirty="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Crosslinked foamed polyolefin</a:t>
            </a:r>
            <a:endParaRPr sz="1100" dirty="0">
              <a:solidFill>
                <a:srgbClr val="404040"/>
              </a:solidFill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80" name="object 25">
            <a:extLst>
              <a:ext uri="{FF2B5EF4-FFF2-40B4-BE49-F238E27FC236}">
                <a16:creationId xmlns:a16="http://schemas.microsoft.com/office/drawing/2014/main" id="{CA8304B8-6CC9-4A32-9BFA-006A644F02DB}"/>
              </a:ext>
            </a:extLst>
          </p:cNvPr>
          <p:cNvSpPr/>
          <p:nvPr/>
        </p:nvSpPr>
        <p:spPr>
          <a:xfrm>
            <a:off x="2730942" y="6196364"/>
            <a:ext cx="1728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World-leading market share</a:t>
            </a:r>
          </a:p>
        </p:txBody>
      </p:sp>
      <p:sp>
        <p:nvSpPr>
          <p:cNvPr id="84" name="bk object 2133">
            <a:extLst>
              <a:ext uri="{FF2B5EF4-FFF2-40B4-BE49-F238E27FC236}">
                <a16:creationId xmlns:a16="http://schemas.microsoft.com/office/drawing/2014/main" id="{8117349A-6B0D-44B7-914D-0BEBB61F19DE}"/>
              </a:ext>
            </a:extLst>
          </p:cNvPr>
          <p:cNvSpPr/>
          <p:nvPr/>
        </p:nvSpPr>
        <p:spPr>
          <a:xfrm>
            <a:off x="6731746" y="943198"/>
            <a:ext cx="1245540" cy="899554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>
              <a:lnSpc>
                <a:spcPts val="700"/>
              </a:lnSpc>
            </a:pPr>
            <a:endParaRPr sz="700" b="1">
              <a:ea typeface="メイリオ" panose="020B0604030504040204" pitchFamily="50" charset="-128"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062CFEF3-FE2D-4900-9C65-602BAD753611}"/>
              </a:ext>
            </a:extLst>
          </p:cNvPr>
          <p:cNvSpPr txBox="1"/>
          <p:nvPr/>
        </p:nvSpPr>
        <p:spPr>
          <a:xfrm>
            <a:off x="6493857" y="1826907"/>
            <a:ext cx="1721313" cy="20178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ctr">
              <a:lnSpc>
                <a:spcPts val="700"/>
              </a:lnSpc>
              <a:spcBef>
                <a:spcPts val="775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Optical Fiber Cables</a:t>
            </a:r>
            <a:endParaRPr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86" name="object 25">
            <a:extLst>
              <a:ext uri="{FF2B5EF4-FFF2-40B4-BE49-F238E27FC236}">
                <a16:creationId xmlns:a16="http://schemas.microsoft.com/office/drawing/2014/main" id="{BCBD06CE-0EF8-4596-BA9F-C806FD3BFDF1}"/>
              </a:ext>
            </a:extLst>
          </p:cNvPr>
          <p:cNvSpPr/>
          <p:nvPr/>
        </p:nvSpPr>
        <p:spPr>
          <a:xfrm>
            <a:off x="6547645" y="2060589"/>
            <a:ext cx="1620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World-leading market share</a:t>
            </a:r>
            <a:endParaRPr lang="en-US"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88" name="object 17">
            <a:extLst>
              <a:ext uri="{FF2B5EF4-FFF2-40B4-BE49-F238E27FC236}">
                <a16:creationId xmlns:a16="http://schemas.microsoft.com/office/drawing/2014/main" id="{948C9438-80D1-4F98-9638-B23D38F2C56A}"/>
              </a:ext>
            </a:extLst>
          </p:cNvPr>
          <p:cNvSpPr/>
          <p:nvPr/>
        </p:nvSpPr>
        <p:spPr>
          <a:xfrm>
            <a:off x="10432271" y="3741644"/>
            <a:ext cx="1078625" cy="1109442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>
              <a:lnSpc>
                <a:spcPts val="700"/>
              </a:lnSpc>
            </a:pPr>
            <a:endParaRPr sz="700" b="1">
              <a:ea typeface="メイリオ" panose="020B0604030504040204" pitchFamily="50" charset="-128"/>
            </a:endParaRPr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D86C1212-506F-40B0-9FBD-C9C230291C8C}"/>
              </a:ext>
            </a:extLst>
          </p:cNvPr>
          <p:cNvSpPr txBox="1"/>
          <p:nvPr/>
        </p:nvSpPr>
        <p:spPr>
          <a:xfrm>
            <a:off x="9919015" y="4922301"/>
            <a:ext cx="2105136" cy="4005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1000"/>
              </a:lnSpc>
              <a:spcBef>
                <a:spcPts val="300"/>
              </a:spcBef>
            </a:pPr>
            <a:r>
              <a:rPr lang="en-US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High-performance low-voltage aluminum conductor cable “Rakuraku Cable”</a:t>
            </a:r>
            <a:endParaRPr lang="ja-JP" altLang="en-US"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90" name="object 25">
            <a:extLst>
              <a:ext uri="{FF2B5EF4-FFF2-40B4-BE49-F238E27FC236}">
                <a16:creationId xmlns:a16="http://schemas.microsoft.com/office/drawing/2014/main" id="{9E8E8F88-B648-4072-BD88-015E9F8F6093}"/>
              </a:ext>
            </a:extLst>
          </p:cNvPr>
          <p:cNvSpPr/>
          <p:nvPr/>
        </p:nvSpPr>
        <p:spPr>
          <a:xfrm>
            <a:off x="10161583" y="5349212"/>
            <a:ext cx="1620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DB677A"/>
          </a:solidFill>
        </p:spPr>
        <p:txBody>
          <a:bodyPr wrap="none" lIns="0" tIns="18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Domestic top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6E18A0D4-69E1-4238-AABE-38872FC8FB02}"/>
              </a:ext>
            </a:extLst>
          </p:cNvPr>
          <p:cNvGrpSpPr/>
          <p:nvPr/>
        </p:nvGrpSpPr>
        <p:grpSpPr>
          <a:xfrm>
            <a:off x="10037866" y="2033552"/>
            <a:ext cx="1679988" cy="1209594"/>
            <a:chOff x="7022838" y="2996956"/>
            <a:chExt cx="1679988" cy="1051820"/>
          </a:xfrm>
        </p:grpSpPr>
        <p:pic>
          <p:nvPicPr>
            <p:cNvPr id="95" name="図 94" descr="港に停泊した船&#10;&#10;自動的に生成された説明">
              <a:extLst>
                <a:ext uri="{FF2B5EF4-FFF2-40B4-BE49-F238E27FC236}">
                  <a16:creationId xmlns:a16="http://schemas.microsoft.com/office/drawing/2014/main" id="{E11EC565-2B89-4E22-B06A-C57ECC965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22838" y="2996956"/>
              <a:ext cx="1257187" cy="944094"/>
            </a:xfrm>
            <a:prstGeom prst="rect">
              <a:avLst/>
            </a:prstGeom>
          </p:spPr>
        </p:pic>
        <p:pic>
          <p:nvPicPr>
            <p:cNvPr id="96" name="図 95" descr="屋内, ケーキ, 誕生日, 食品 が含まれている画像&#10;&#10;自動的に生成された説明">
              <a:extLst>
                <a:ext uri="{FF2B5EF4-FFF2-40B4-BE49-F238E27FC236}">
                  <a16:creationId xmlns:a16="http://schemas.microsoft.com/office/drawing/2014/main" id="{30B80501-1DE6-4AFC-89D0-4DB313758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62825" y="3427167"/>
              <a:ext cx="540001" cy="621609"/>
            </a:xfrm>
            <a:prstGeom prst="rect">
              <a:avLst/>
            </a:prstGeom>
          </p:spPr>
        </p:pic>
      </p:grpSp>
      <p:sp>
        <p:nvSpPr>
          <p:cNvPr id="93" name="object 6">
            <a:extLst>
              <a:ext uri="{FF2B5EF4-FFF2-40B4-BE49-F238E27FC236}">
                <a16:creationId xmlns:a16="http://schemas.microsoft.com/office/drawing/2014/main" id="{EBDFF129-629B-4C0A-8A82-45E302ED31D4}"/>
              </a:ext>
            </a:extLst>
          </p:cNvPr>
          <p:cNvSpPr txBox="1"/>
          <p:nvPr/>
        </p:nvSpPr>
        <p:spPr>
          <a:xfrm>
            <a:off x="10150482" y="3027069"/>
            <a:ext cx="1123424" cy="36465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ctr">
              <a:lnSpc>
                <a:spcPts val="1000"/>
              </a:lnSpc>
              <a:spcBef>
                <a:spcPts val="0"/>
              </a:spcBef>
            </a:pPr>
            <a:r>
              <a:rPr lang="en-US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Submarine power cable</a:t>
            </a:r>
            <a:endParaRPr sz="1100" b="1" dirty="0">
              <a:solidFill>
                <a:srgbClr val="404040"/>
              </a:solidFill>
              <a:ea typeface="メイリオ" panose="020B0604030504040204" pitchFamily="50" charset="-128"/>
              <a:cs typeface="A-OTF UD新ゴ Pro R"/>
            </a:endParaRPr>
          </a:p>
        </p:txBody>
      </p:sp>
      <p:sp>
        <p:nvSpPr>
          <p:cNvPr id="94" name="object 25">
            <a:extLst>
              <a:ext uri="{FF2B5EF4-FFF2-40B4-BE49-F238E27FC236}">
                <a16:creationId xmlns:a16="http://schemas.microsoft.com/office/drawing/2014/main" id="{D800641E-6A39-4EA6-B03B-014AD89226EC}"/>
              </a:ext>
            </a:extLst>
          </p:cNvPr>
          <p:cNvSpPr/>
          <p:nvPr/>
        </p:nvSpPr>
        <p:spPr>
          <a:xfrm>
            <a:off x="10017455" y="3437189"/>
            <a:ext cx="1836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DB677A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Domestic-leading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98" name="object 26">
            <a:extLst>
              <a:ext uri="{FF2B5EF4-FFF2-40B4-BE49-F238E27FC236}">
                <a16:creationId xmlns:a16="http://schemas.microsoft.com/office/drawing/2014/main" id="{D77972C5-A59E-4C64-8638-10ECFBBC2D82}"/>
              </a:ext>
            </a:extLst>
          </p:cNvPr>
          <p:cNvSpPr txBox="1"/>
          <p:nvPr/>
        </p:nvSpPr>
        <p:spPr>
          <a:xfrm>
            <a:off x="6459169" y="5964295"/>
            <a:ext cx="1741547" cy="296299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 algn="ctr">
              <a:lnSpc>
                <a:spcPts val="1000"/>
              </a:lnSpc>
              <a:spcBef>
                <a:spcPts val="0"/>
              </a:spcBef>
            </a:pPr>
            <a:r>
              <a:rPr lang="nb-NO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Aluminum Blanks </a:t>
            </a:r>
          </a:p>
          <a:p>
            <a:pPr marL="12700" algn="ctr">
              <a:lnSpc>
                <a:spcPts val="1000"/>
              </a:lnSpc>
              <a:spcBef>
                <a:spcPts val="0"/>
              </a:spcBef>
            </a:pPr>
            <a:r>
              <a:rPr lang="nb-NO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for Hard Disk Drive (HDD)</a:t>
            </a:r>
            <a:endParaRPr lang="en-US" sz="300" b="1" dirty="0">
              <a:solidFill>
                <a:srgbClr val="404040"/>
              </a:solidFill>
              <a:ea typeface="メイリオ" panose="020B0604030504040204" pitchFamily="50" charset="-128"/>
              <a:cs typeface="A-OTF UD新ゴ Pro R"/>
            </a:endParaRPr>
          </a:p>
        </p:txBody>
      </p:sp>
      <p:pic>
        <p:nvPicPr>
          <p:cNvPr id="99" name="Picture 2" descr="https://www.furukawa.co.jp/product/electronic/ele_parts/qdgd2200000003cv-img/electronic_photo_6.jpg">
            <a:extLst>
              <a:ext uri="{FF2B5EF4-FFF2-40B4-BE49-F238E27FC236}">
                <a16:creationId xmlns:a16="http://schemas.microsoft.com/office/drawing/2014/main" id="{53382817-913B-493F-8E23-8B8FB1B4E1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63634" y="5004499"/>
            <a:ext cx="1332621" cy="906687"/>
          </a:xfrm>
          <a:prstGeom prst="roundRect">
            <a:avLst>
              <a:gd name="adj" fmla="val 67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object 25">
            <a:extLst>
              <a:ext uri="{FF2B5EF4-FFF2-40B4-BE49-F238E27FC236}">
                <a16:creationId xmlns:a16="http://schemas.microsoft.com/office/drawing/2014/main" id="{D06A9F17-4622-41FA-BA4B-8FFE77F65268}"/>
              </a:ext>
            </a:extLst>
          </p:cNvPr>
          <p:cNvSpPr/>
          <p:nvPr/>
        </p:nvSpPr>
        <p:spPr>
          <a:xfrm>
            <a:off x="6465941" y="6279164"/>
            <a:ext cx="1728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World's second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102" name="object 8">
            <a:extLst>
              <a:ext uri="{FF2B5EF4-FFF2-40B4-BE49-F238E27FC236}">
                <a16:creationId xmlns:a16="http://schemas.microsoft.com/office/drawing/2014/main" id="{5833F916-A1AD-41FA-B61B-D8D0C4CA231F}"/>
              </a:ext>
            </a:extLst>
          </p:cNvPr>
          <p:cNvSpPr/>
          <p:nvPr/>
        </p:nvSpPr>
        <p:spPr>
          <a:xfrm>
            <a:off x="4866198" y="5004499"/>
            <a:ext cx="1245540" cy="899555"/>
          </a:xfrm>
          <a:prstGeom prst="rect">
            <a:avLst/>
          </a:pr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>
              <a:lnSpc>
                <a:spcPts val="700"/>
              </a:lnSpc>
            </a:pPr>
            <a:endParaRPr sz="700" b="1">
              <a:ea typeface="メイリオ" panose="020B0604030504040204" pitchFamily="50" charset="-128"/>
            </a:endParaRPr>
          </a:p>
        </p:txBody>
      </p:sp>
      <p:sp>
        <p:nvSpPr>
          <p:cNvPr id="103" name="object 10">
            <a:extLst>
              <a:ext uri="{FF2B5EF4-FFF2-40B4-BE49-F238E27FC236}">
                <a16:creationId xmlns:a16="http://schemas.microsoft.com/office/drawing/2014/main" id="{B8AA085E-62EA-43D1-9FDB-1F8265C3CE2D}"/>
              </a:ext>
            </a:extLst>
          </p:cNvPr>
          <p:cNvSpPr txBox="1"/>
          <p:nvPr/>
        </p:nvSpPr>
        <p:spPr>
          <a:xfrm>
            <a:off x="4518195" y="5992133"/>
            <a:ext cx="2000536" cy="4005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b="1" dirty="0">
                <a:solidFill>
                  <a:srgbClr val="404040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“Eflex”  buried protective conduit for cables</a:t>
            </a:r>
          </a:p>
          <a:p>
            <a:pPr marL="12700" marR="5080" algn="ctr">
              <a:lnSpc>
                <a:spcPts val="1000"/>
              </a:lnSpc>
              <a:spcBef>
                <a:spcPts val="0"/>
              </a:spcBef>
            </a:pPr>
            <a:endParaRPr lang="en-US" altLang="ja-JP" sz="1100" b="1" dirty="0">
              <a:solidFill>
                <a:srgbClr val="404040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104" name="object 25">
            <a:extLst>
              <a:ext uri="{FF2B5EF4-FFF2-40B4-BE49-F238E27FC236}">
                <a16:creationId xmlns:a16="http://schemas.microsoft.com/office/drawing/2014/main" id="{3D901A07-8F0B-4140-9AB0-2BFE6B0FC6CD}"/>
              </a:ext>
            </a:extLst>
          </p:cNvPr>
          <p:cNvSpPr/>
          <p:nvPr/>
        </p:nvSpPr>
        <p:spPr>
          <a:xfrm>
            <a:off x="4660968" y="6285661"/>
            <a:ext cx="1656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DB677A"/>
          </a:solidFill>
        </p:spPr>
        <p:txBody>
          <a:bodyPr wrap="none" lIns="0" tIns="18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Domestic top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106" name="図 105">
            <a:extLst>
              <a:ext uri="{FF2B5EF4-FFF2-40B4-BE49-F238E27FC236}">
                <a16:creationId xmlns:a16="http://schemas.microsoft.com/office/drawing/2014/main" id="{DA3D3F81-3929-4DD5-ACA0-24F1C864853F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711" y="4802171"/>
            <a:ext cx="1332621" cy="990174"/>
          </a:xfrm>
          <a:prstGeom prst="rect">
            <a:avLst/>
          </a:prstGeom>
        </p:spPr>
      </p:pic>
      <p:sp>
        <p:nvSpPr>
          <p:cNvPr id="107" name="object 2">
            <a:extLst>
              <a:ext uri="{FF2B5EF4-FFF2-40B4-BE49-F238E27FC236}">
                <a16:creationId xmlns:a16="http://schemas.microsoft.com/office/drawing/2014/main" id="{5CD995B7-2F93-4C1D-8CD4-37A2388352ED}"/>
              </a:ext>
            </a:extLst>
          </p:cNvPr>
          <p:cNvSpPr txBox="1"/>
          <p:nvPr/>
        </p:nvSpPr>
        <p:spPr>
          <a:xfrm>
            <a:off x="627350" y="5799292"/>
            <a:ext cx="2017343" cy="20178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ctr">
              <a:lnSpc>
                <a:spcPts val="700"/>
              </a:lnSpc>
              <a:spcBef>
                <a:spcPts val="775"/>
              </a:spcBef>
            </a:pPr>
            <a:r>
              <a:rPr lang="en-US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Heat sinks (Heat pipe type)</a:t>
            </a:r>
            <a:endParaRPr sz="1100" b="1" dirty="0">
              <a:solidFill>
                <a:srgbClr val="404040"/>
              </a:solidFill>
              <a:ea typeface="メイリオ" panose="020B0604030504040204" pitchFamily="50" charset="-128"/>
              <a:cs typeface="A-OTF UD新ゴ Pro R"/>
            </a:endParaRPr>
          </a:p>
        </p:txBody>
      </p:sp>
      <p:sp>
        <p:nvSpPr>
          <p:cNvPr id="108" name="object 25">
            <a:extLst>
              <a:ext uri="{FF2B5EF4-FFF2-40B4-BE49-F238E27FC236}">
                <a16:creationId xmlns:a16="http://schemas.microsoft.com/office/drawing/2014/main" id="{9DF78001-0F05-49A1-87EF-0E660F109E88}"/>
              </a:ext>
            </a:extLst>
          </p:cNvPr>
          <p:cNvSpPr/>
          <p:nvPr/>
        </p:nvSpPr>
        <p:spPr>
          <a:xfrm>
            <a:off x="826021" y="6061853"/>
            <a:ext cx="1620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World-leading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110" name="図 109" descr="モニター, 座る, コンピュータ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A7D82850-EEB5-4B90-B1EC-D7332DD4AF11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71" y="3220360"/>
            <a:ext cx="1245540" cy="987396"/>
          </a:xfrm>
          <a:prstGeom prst="rect">
            <a:avLst/>
          </a:prstGeom>
        </p:spPr>
      </p:pic>
      <p:sp>
        <p:nvSpPr>
          <p:cNvPr id="111" name="object 22">
            <a:extLst>
              <a:ext uri="{FF2B5EF4-FFF2-40B4-BE49-F238E27FC236}">
                <a16:creationId xmlns:a16="http://schemas.microsoft.com/office/drawing/2014/main" id="{6E670588-BCD4-4E79-8600-59DE8117837A}"/>
              </a:ext>
            </a:extLst>
          </p:cNvPr>
          <p:cNvSpPr txBox="1"/>
          <p:nvPr/>
        </p:nvSpPr>
        <p:spPr>
          <a:xfrm>
            <a:off x="317039" y="4069360"/>
            <a:ext cx="1830807" cy="4379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Rectangular magnet wires</a:t>
            </a:r>
          </a:p>
          <a:p>
            <a:pPr algn="ctr">
              <a:spcBef>
                <a:spcPts val="0"/>
              </a:spcBef>
            </a:pPr>
            <a:r>
              <a:rPr lang="en-US" altLang="ja-JP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for chip inductors</a:t>
            </a:r>
            <a:endParaRPr sz="1100" b="1" dirty="0">
              <a:solidFill>
                <a:srgbClr val="404040"/>
              </a:solidFill>
              <a:ea typeface="メイリオ" panose="020B0604030504040204" pitchFamily="50" charset="-128"/>
              <a:cs typeface="A-OTF UD新ゴ Pro R"/>
            </a:endParaRPr>
          </a:p>
        </p:txBody>
      </p:sp>
      <p:sp>
        <p:nvSpPr>
          <p:cNvPr id="112" name="object 25">
            <a:extLst>
              <a:ext uri="{FF2B5EF4-FFF2-40B4-BE49-F238E27FC236}">
                <a16:creationId xmlns:a16="http://schemas.microsoft.com/office/drawing/2014/main" id="{EB8B38BA-7C9D-4410-9E1C-BBAC65124F89}"/>
              </a:ext>
            </a:extLst>
          </p:cNvPr>
          <p:cNvSpPr/>
          <p:nvPr/>
        </p:nvSpPr>
        <p:spPr>
          <a:xfrm>
            <a:off x="422442" y="4545427"/>
            <a:ext cx="1620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54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World's top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114" name="object 15">
            <a:extLst>
              <a:ext uri="{FF2B5EF4-FFF2-40B4-BE49-F238E27FC236}">
                <a16:creationId xmlns:a16="http://schemas.microsoft.com/office/drawing/2014/main" id="{1BC0AC09-02A8-40EF-9949-608F63060412}"/>
              </a:ext>
            </a:extLst>
          </p:cNvPr>
          <p:cNvSpPr txBox="1"/>
          <p:nvPr/>
        </p:nvSpPr>
        <p:spPr>
          <a:xfrm>
            <a:off x="705104" y="2619776"/>
            <a:ext cx="2200927" cy="310406"/>
          </a:xfrm>
          <a:prstGeom prst="rect">
            <a:avLst/>
          </a:prstGeom>
        </p:spPr>
        <p:txBody>
          <a:bodyPr vert="horz" wrap="square" lIns="0" tIns="12700" rIns="144000" bIns="0" rtlCol="0">
            <a:spAutoFit/>
          </a:bodyPr>
          <a:lstStyle/>
          <a:p>
            <a:pPr marL="12700" marR="5080" indent="196850" algn="ctr"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Alkaline Storage Battery</a:t>
            </a:r>
          </a:p>
          <a:p>
            <a:pPr marL="12700" marR="5080" indent="196850" algn="ctr">
              <a:lnSpc>
                <a:spcPts val="1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404040"/>
                </a:solidFill>
                <a:ea typeface="メイリオ" panose="020B0604030504040204" pitchFamily="50" charset="-128"/>
                <a:cs typeface="A-OTF UD新ゴ Pro R"/>
              </a:rPr>
              <a:t>for Railroad</a:t>
            </a:r>
          </a:p>
        </p:txBody>
      </p:sp>
      <p:sp>
        <p:nvSpPr>
          <p:cNvPr id="115" name="object 25">
            <a:extLst>
              <a:ext uri="{FF2B5EF4-FFF2-40B4-BE49-F238E27FC236}">
                <a16:creationId xmlns:a16="http://schemas.microsoft.com/office/drawing/2014/main" id="{415C58BD-C683-4C0B-A17A-841847F76EF3}"/>
              </a:ext>
            </a:extLst>
          </p:cNvPr>
          <p:cNvSpPr/>
          <p:nvPr/>
        </p:nvSpPr>
        <p:spPr>
          <a:xfrm>
            <a:off x="879620" y="2957275"/>
            <a:ext cx="1872000" cy="165600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DB677A"/>
          </a:solidFill>
        </p:spPr>
        <p:txBody>
          <a:bodyPr wrap="none" lIns="0" tIns="5400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Domestic-leading market share</a:t>
            </a:r>
            <a:endParaRPr sz="900" b="1" dirty="0"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B79562A2-144E-48EE-9044-3B33A4622FB0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686" y="1553311"/>
            <a:ext cx="1445764" cy="1083381"/>
          </a:xfrm>
          <a:prstGeom prst="rect">
            <a:avLst/>
          </a:prstGeom>
        </p:spPr>
      </p:pic>
      <p:sp>
        <p:nvSpPr>
          <p:cNvPr id="118" name="object 96">
            <a:extLst>
              <a:ext uri="{FF2B5EF4-FFF2-40B4-BE49-F238E27FC236}">
                <a16:creationId xmlns:a16="http://schemas.microsoft.com/office/drawing/2014/main" id="{FF881CDB-DA43-45B4-97C7-BE01A796A8A2}"/>
              </a:ext>
            </a:extLst>
          </p:cNvPr>
          <p:cNvSpPr/>
          <p:nvPr/>
        </p:nvSpPr>
        <p:spPr>
          <a:xfrm>
            <a:off x="8655802" y="4711028"/>
            <a:ext cx="1283274" cy="894900"/>
          </a:xfrm>
          <a:prstGeom prst="roundRect">
            <a:avLst>
              <a:gd name="adj" fmla="val 7740"/>
            </a:avLst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634" dirty="0">
              <a:solidFill>
                <a:prstClr val="black"/>
              </a:solidFill>
              <a:ea typeface="Meiryo UI" panose="020B0604030504040204" pitchFamily="50" charset="-128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BFC94C39-4D56-406E-A106-640235446DA6}"/>
              </a:ext>
            </a:extLst>
          </p:cNvPr>
          <p:cNvSpPr txBox="1"/>
          <p:nvPr/>
        </p:nvSpPr>
        <p:spPr>
          <a:xfrm>
            <a:off x="8347739" y="5600922"/>
            <a:ext cx="1899400" cy="4873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b="1" dirty="0">
                <a:solidFill>
                  <a:srgbClr val="404040"/>
                </a:solidFill>
                <a:ea typeface="メイリオ" panose="020B0604030504040204" pitchFamily="50" charset="-128"/>
              </a:rPr>
              <a:t>Copper foil (Electrolytic copper foil for printed wiring boards</a:t>
            </a:r>
            <a:r>
              <a:rPr lang="ja-JP" altLang="en-US" sz="1100" b="1" dirty="0">
                <a:solidFill>
                  <a:srgbClr val="404040"/>
                </a:solidFill>
                <a:ea typeface="メイリオ" panose="020B0604030504040204" pitchFamily="50" charset="-128"/>
              </a:rPr>
              <a:t>）</a:t>
            </a:r>
            <a:endParaRPr lang="en-US" altLang="ja-JP" sz="1100" b="1" dirty="0">
              <a:solidFill>
                <a:srgbClr val="404040"/>
              </a:solidFill>
              <a:ea typeface="メイリオ" panose="020B0604030504040204" pitchFamily="50" charset="-128"/>
            </a:endParaRPr>
          </a:p>
        </p:txBody>
      </p:sp>
      <p:sp>
        <p:nvSpPr>
          <p:cNvPr id="120" name="object 25">
            <a:extLst>
              <a:ext uri="{FF2B5EF4-FFF2-40B4-BE49-F238E27FC236}">
                <a16:creationId xmlns:a16="http://schemas.microsoft.com/office/drawing/2014/main" id="{9A03D3E9-F5D7-4279-82D7-E715791C36D0}"/>
              </a:ext>
            </a:extLst>
          </p:cNvPr>
          <p:cNvSpPr/>
          <p:nvPr/>
        </p:nvSpPr>
        <p:spPr>
          <a:xfrm>
            <a:off x="8297171" y="6060963"/>
            <a:ext cx="2000536" cy="263789"/>
          </a:xfrm>
          <a:custGeom>
            <a:avLst/>
            <a:gdLst/>
            <a:ahLst/>
            <a:cxnLst/>
            <a:rect l="l" t="t" r="r" b="b"/>
            <a:pathLst>
              <a:path w="1683384" h="315595">
                <a:moveTo>
                  <a:pt x="1577726" y="0"/>
                </a:moveTo>
                <a:lnTo>
                  <a:pt x="105179" y="0"/>
                </a:lnTo>
                <a:lnTo>
                  <a:pt x="64239" y="8265"/>
                </a:lnTo>
                <a:lnTo>
                  <a:pt x="30806" y="30806"/>
                </a:lnTo>
                <a:lnTo>
                  <a:pt x="8265" y="64239"/>
                </a:lnTo>
                <a:lnTo>
                  <a:pt x="0" y="105179"/>
                </a:lnTo>
                <a:lnTo>
                  <a:pt x="0" y="210364"/>
                </a:lnTo>
                <a:lnTo>
                  <a:pt x="8265" y="251304"/>
                </a:lnTo>
                <a:lnTo>
                  <a:pt x="30806" y="284737"/>
                </a:lnTo>
                <a:lnTo>
                  <a:pt x="64239" y="307278"/>
                </a:lnTo>
                <a:lnTo>
                  <a:pt x="105179" y="315543"/>
                </a:lnTo>
                <a:lnTo>
                  <a:pt x="1577726" y="315543"/>
                </a:lnTo>
                <a:lnTo>
                  <a:pt x="1618666" y="307278"/>
                </a:lnTo>
                <a:lnTo>
                  <a:pt x="1652098" y="284737"/>
                </a:lnTo>
                <a:lnTo>
                  <a:pt x="1674639" y="251304"/>
                </a:lnTo>
                <a:lnTo>
                  <a:pt x="1682905" y="210364"/>
                </a:lnTo>
                <a:lnTo>
                  <a:pt x="1682905" y="105179"/>
                </a:lnTo>
                <a:lnTo>
                  <a:pt x="1674639" y="64239"/>
                </a:lnTo>
                <a:lnTo>
                  <a:pt x="1652098" y="30806"/>
                </a:lnTo>
                <a:lnTo>
                  <a:pt x="1618666" y="8265"/>
                </a:lnTo>
                <a:lnTo>
                  <a:pt x="1577726" y="0"/>
                </a:lnTo>
                <a:close/>
              </a:path>
            </a:pathLst>
          </a:custGeom>
          <a:solidFill>
            <a:srgbClr val="009EDB"/>
          </a:solidFill>
        </p:spPr>
        <p:txBody>
          <a:bodyPr wrap="none" lIns="0" tIns="36000" rIns="0" bIns="0" rtlCol="0" anchor="ctr"/>
          <a:lstStyle/>
          <a:p>
            <a:pPr algn="ctr" eaLnBrk="1" fontAlgn="auto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Lowest level of transmission loss</a:t>
            </a:r>
          </a:p>
          <a:p>
            <a:pPr algn="ctr" eaLnBrk="1" fontAlgn="auto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in the world”</a:t>
            </a:r>
            <a:r>
              <a:rPr lang="ja-JP" altLang="en-US" sz="900" b="1" dirty="0">
                <a:solidFill>
                  <a:srgbClr val="FFFFFF"/>
                </a:solidFill>
                <a:ea typeface="Arial Unicode MS" panose="020B0604020202020204" pitchFamily="50" charset="-128"/>
                <a:cs typeface="Arial" panose="020B0604020202020204" pitchFamily="34" charset="0"/>
              </a:rPr>
              <a:t> </a:t>
            </a:r>
            <a:endParaRPr lang="en-US" altLang="ja-JP" sz="900" b="1" dirty="0">
              <a:solidFill>
                <a:srgbClr val="FFFFFF"/>
              </a:solidFill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B005779-DDA4-B2DD-9E1E-D5D6D260AF7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52208" y="1215664"/>
            <a:ext cx="1349439" cy="946622"/>
          </a:xfrm>
          <a:prstGeom prst="roundRect">
            <a:avLst>
              <a:gd name="adj" fmla="val 8352"/>
            </a:avLst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397C01F-03A2-2A91-FFDB-CAFDFB75BC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4904" y="945581"/>
            <a:ext cx="1311244" cy="880554"/>
          </a:xfrm>
          <a:prstGeom prst="roundRect">
            <a:avLst>
              <a:gd name="adj" fmla="val 7832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FA1CFD-4501-AFB2-49F7-76F35240814B}"/>
              </a:ext>
            </a:extLst>
          </p:cNvPr>
          <p:cNvSpPr/>
          <p:nvPr/>
        </p:nvSpPr>
        <p:spPr>
          <a:xfrm>
            <a:off x="2773628" y="699888"/>
            <a:ext cx="5773668" cy="23271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hu-H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13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C4779B-133B-10D4-A838-43B06CB2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Furukawa Electric R&amp;D and New business</a:t>
            </a:r>
          </a:p>
        </p:txBody>
      </p:sp>
      <p:grpSp>
        <p:nvGrpSpPr>
          <p:cNvPr id="6" name="グループ化 28">
            <a:extLst>
              <a:ext uri="{FF2B5EF4-FFF2-40B4-BE49-F238E27FC236}">
                <a16:creationId xmlns:a16="http://schemas.microsoft.com/office/drawing/2014/main" id="{CE47E240-37B7-04B3-EB3D-6E9319C3F159}"/>
              </a:ext>
            </a:extLst>
          </p:cNvPr>
          <p:cNvGrpSpPr/>
          <p:nvPr/>
        </p:nvGrpSpPr>
        <p:grpSpPr>
          <a:xfrm>
            <a:off x="316654" y="1667970"/>
            <a:ext cx="6306290" cy="4288537"/>
            <a:chOff x="242936" y="1943307"/>
            <a:chExt cx="6467156" cy="4517136"/>
          </a:xfrm>
        </p:grpSpPr>
        <p:pic>
          <p:nvPicPr>
            <p:cNvPr id="7" name="図 9">
              <a:extLst>
                <a:ext uri="{FF2B5EF4-FFF2-40B4-BE49-F238E27FC236}">
                  <a16:creationId xmlns:a16="http://schemas.microsoft.com/office/drawing/2014/main" id="{DCC7A794-DA6B-B2AD-9EB5-0B974F25F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936" y="1943307"/>
              <a:ext cx="6467156" cy="4517136"/>
            </a:xfrm>
            <a:prstGeom prst="rect">
              <a:avLst/>
            </a:prstGeom>
          </p:spPr>
        </p:pic>
        <p:pic>
          <p:nvPicPr>
            <p:cNvPr id="8" name="図 27">
              <a:extLst>
                <a:ext uri="{FF2B5EF4-FFF2-40B4-BE49-F238E27FC236}">
                  <a16:creationId xmlns:a16="http://schemas.microsoft.com/office/drawing/2014/main" id="{255474E7-ED71-9525-4177-4698F4CF4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276" y="2204026"/>
              <a:ext cx="1029955" cy="705258"/>
            </a:xfrm>
            <a:prstGeom prst="rect">
              <a:avLst/>
            </a:prstGeom>
          </p:spPr>
        </p:pic>
      </p:grpSp>
      <p:pic>
        <p:nvPicPr>
          <p:cNvPr id="9" name="図 10">
            <a:extLst>
              <a:ext uri="{FF2B5EF4-FFF2-40B4-BE49-F238E27FC236}">
                <a16:creationId xmlns:a16="http://schemas.microsoft.com/office/drawing/2014/main" id="{760A0015-E5B4-82E2-D8F0-0B0A25F623C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1063" y="1692141"/>
            <a:ext cx="3231849" cy="3933527"/>
          </a:xfrm>
          <a:prstGeom prst="rect">
            <a:avLst/>
          </a:prstGeom>
        </p:spPr>
      </p:pic>
      <p:pic>
        <p:nvPicPr>
          <p:cNvPr id="12" name="図 6">
            <a:extLst>
              <a:ext uri="{FF2B5EF4-FFF2-40B4-BE49-F238E27FC236}">
                <a16:creationId xmlns:a16="http://schemas.microsoft.com/office/drawing/2014/main" id="{ED5FD8DD-1688-164A-5A33-B23E235A0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4380" y="1471659"/>
            <a:ext cx="2424378" cy="4644129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4D2648FB-EFBA-496A-D973-163C5AA519AE}"/>
              </a:ext>
            </a:extLst>
          </p:cNvPr>
          <p:cNvSpPr/>
          <p:nvPr/>
        </p:nvSpPr>
        <p:spPr>
          <a:xfrm>
            <a:off x="2838428" y="1634104"/>
            <a:ext cx="1433384" cy="2789331"/>
          </a:xfrm>
          <a:prstGeom prst="rect">
            <a:avLst/>
          </a:prstGeom>
          <a:solidFill>
            <a:schemeClr val="accent2">
              <a:alpha val="20000"/>
            </a:schemeClr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GB">
              <a:solidFill>
                <a:schemeClr val="tx1"/>
              </a:solidFill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8847C9-33AB-E111-3BF5-0F7D495EDE22}"/>
              </a:ext>
            </a:extLst>
          </p:cNvPr>
          <p:cNvSpPr txBox="1">
            <a:spLocks/>
          </p:cNvSpPr>
          <p:nvPr/>
        </p:nvSpPr>
        <p:spPr>
          <a:xfrm>
            <a:off x="316654" y="6186234"/>
            <a:ext cx="5607606" cy="246221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 dirty="0"/>
              <a:t>All Rights Reserved, Copyright© FURUKAWA ELECTRIC CO., LTD. 2025</a:t>
            </a:r>
          </a:p>
        </p:txBody>
      </p:sp>
    </p:spTree>
    <p:extLst>
      <p:ext uri="{BB962C8B-B14F-4D97-AF65-F5344CB8AC3E}">
        <p14:creationId xmlns:p14="http://schemas.microsoft.com/office/powerpoint/2010/main" val="64282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4544F-96B5-08EE-5DB2-F3B73224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841D8B-602E-DA55-EABE-CAC6200B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91440" bIns="45720" anchor="ctr"/>
          <a:lstStyle/>
          <a:p>
            <a:r>
              <a:rPr lang="en-GB" dirty="0"/>
              <a:t>FETI Budapest Organisation 🇭🇺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FCF146F5-6B52-9810-A858-4EBDFA75B5D1}"/>
              </a:ext>
            </a:extLst>
          </p:cNvPr>
          <p:cNvSpPr txBox="1"/>
          <p:nvPr/>
        </p:nvSpPr>
        <p:spPr>
          <a:xfrm>
            <a:off x="537912" y="4612673"/>
            <a:ext cx="11112710" cy="19697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>
              <a:spcAft>
                <a:spcPts val="600"/>
              </a:spcAft>
            </a:pPr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Furukawa Electric Institute of Technology has a </a:t>
            </a:r>
            <a:r>
              <a:rPr lang="en-GB" sz="1600" i="0" u="none" strike="noStrike" noProof="0" dirty="0">
                <a:solidFill>
                  <a:schemeClr val="tx1">
                    <a:lumMod val="50000"/>
                  </a:schemeClr>
                </a:solidFill>
                <a:effectLst/>
              </a:rPr>
              <a:t>history of </a:t>
            </a:r>
            <a:r>
              <a:rPr lang="en-GB" sz="1600" b="1" i="0" u="none" strike="noStrike" noProof="0" dirty="0">
                <a:solidFill>
                  <a:schemeClr val="tx1">
                    <a:lumMod val="50000"/>
                  </a:schemeClr>
                </a:solidFill>
                <a:effectLst/>
              </a:rPr>
              <a:t>more then 30 years</a:t>
            </a:r>
            <a:r>
              <a:rPr lang="en-GB" sz="160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, and its work </a:t>
            </a: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in the field of research and development is demonstrated by numerous </a:t>
            </a:r>
            <a:r>
              <a:rPr lang="en-GB" sz="1600" b="1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industrial applications, scientific publications and patents</a:t>
            </a: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. </a:t>
            </a:r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pPr algn="just" rtl="0" fontAlgn="base">
              <a:spcAft>
                <a:spcPts val="600"/>
              </a:spcAft>
            </a:pP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The highly qualified professional team of </a:t>
            </a:r>
            <a:r>
              <a:rPr lang="en-GB" sz="1600" b="1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nearly 50 people </a:t>
            </a: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operates primarily as the European R&amp;D centre of Furukawa Electric Co., Ltd., but also supplies unique solutions to external partners in </a:t>
            </a:r>
            <a:r>
              <a:rPr lang="en-GB" sz="1600" b="1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simulation tests, material development, automotive development, production technology </a:t>
            </a:r>
            <a:r>
              <a:rPr lang="en-GB" sz="160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optimization or precisely in the integration of</a:t>
            </a:r>
            <a:r>
              <a:rPr lang="en-GB" sz="1600" b="1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 AI-based solutions into production processes</a:t>
            </a:r>
            <a:r>
              <a:rPr lang="en-GB" sz="1600" b="0" i="0" u="none" strike="noStrike" dirty="0">
                <a:solidFill>
                  <a:schemeClr val="tx1">
                    <a:lumMod val="50000"/>
                  </a:schemeClr>
                </a:solidFill>
                <a:effectLst/>
              </a:rPr>
              <a:t>.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hu-HU" sz="1600" b="0" i="0" u="none" strike="noStrike" dirty="0">
              <a:effectLst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DD3149D-1495-40DD-BF71-221D700224A3}"/>
              </a:ext>
            </a:extLst>
          </p:cNvPr>
          <p:cNvSpPr txBox="1"/>
          <p:nvPr/>
        </p:nvSpPr>
        <p:spPr>
          <a:xfrm>
            <a:off x="539645" y="1121100"/>
            <a:ext cx="11347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The R&amp;D center in Budapest is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able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cover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entire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sz="1600" b="0" i="0" u="none" strike="noStrike" dirty="0" err="1">
                <a:solidFill>
                  <a:srgbClr val="000000"/>
                </a:solidFill>
                <a:effectLst/>
              </a:rPr>
              <a:t>process</a:t>
            </a:r>
            <a:r>
              <a:rPr lang="hu-HU" sz="1600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hu-HU" sz="1600" b="1" i="0" u="none" strike="noStrike" dirty="0" err="1">
                <a:solidFill>
                  <a:srgbClr val="000000"/>
                </a:solidFill>
                <a:effectLst/>
              </a:rPr>
              <a:t>research</a:t>
            </a:r>
            <a:r>
              <a:rPr lang="hu-HU" sz="1600" b="1" i="0" u="none" strike="noStrike" dirty="0">
                <a:solidFill>
                  <a:srgbClr val="000000"/>
                </a:solidFill>
                <a:effectLst/>
              </a:rPr>
              <a:t>, design, </a:t>
            </a:r>
            <a:r>
              <a:rPr lang="hu-HU" sz="1600" b="1" i="0" u="none" strike="noStrike" dirty="0" err="1">
                <a:solidFill>
                  <a:srgbClr val="000000"/>
                </a:solidFill>
                <a:effectLst/>
              </a:rPr>
              <a:t>development</a:t>
            </a:r>
            <a:r>
              <a:rPr lang="hu-HU" sz="1600" b="1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sz="1600" b="1" i="0" u="none" strike="noStrike" dirty="0" err="1">
                <a:solidFill>
                  <a:srgbClr val="000000"/>
                </a:solidFill>
                <a:effectLst/>
              </a:rPr>
              <a:t>implementation</a:t>
            </a:r>
            <a:r>
              <a:rPr lang="hu-HU" sz="1600" b="1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GB" sz="1600" dirty="0"/>
          </a:p>
        </p:txBody>
      </p:sp>
      <p:sp>
        <p:nvSpPr>
          <p:cNvPr id="13" name="フッター プレースホルダー 2">
            <a:extLst>
              <a:ext uri="{FF2B5EF4-FFF2-40B4-BE49-F238E27FC236}">
                <a16:creationId xmlns:a16="http://schemas.microsoft.com/office/drawing/2014/main" id="{43240D4F-BF41-BE74-812F-67F68FA2A3F6}"/>
              </a:ext>
            </a:extLst>
          </p:cNvPr>
          <p:cNvSpPr txBox="1">
            <a:spLocks/>
          </p:cNvSpPr>
          <p:nvPr/>
        </p:nvSpPr>
        <p:spPr>
          <a:xfrm>
            <a:off x="242936" y="6588570"/>
            <a:ext cx="5607606" cy="246221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 dirty="0"/>
              <a:t>All Rights Reserved, Copyright© FURUKAWA ELECTRIC CO., LTD. 2025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F80BF6A-955B-D606-8B6B-55E549D72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916" y="3991590"/>
            <a:ext cx="45719" cy="28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>
              <a:spcBef>
                <a:spcPct val="20000"/>
              </a:spcBef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5F5F5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defTabSz="514370">
              <a:spcBef>
                <a:spcPct val="0"/>
              </a:spcBef>
              <a:defRPr/>
            </a:pPr>
            <a:endParaRPr lang="ja-JP" altLang="ja-JP" sz="1294">
              <a:solidFill>
                <a:srgbClr val="00000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275983E0-1DF7-9C2C-E3C0-4CBDADBE4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723" y="3923189"/>
            <a:ext cx="885274" cy="14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1792" tIns="25895" rIns="51792" bIns="25895">
            <a:spAutoFit/>
          </a:bodyPr>
          <a:lstStyle/>
          <a:p>
            <a:pPr algn="ctr" defTabSz="514370">
              <a:spcBef>
                <a:spcPct val="50000"/>
              </a:spcBef>
              <a:defRPr/>
            </a:pPr>
            <a:endParaRPr kumimoji="1" lang="ja-JP" altLang="ja-JP" sz="675">
              <a:solidFill>
                <a:srgbClr val="40404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6" name="Line 16">
            <a:extLst>
              <a:ext uri="{FF2B5EF4-FFF2-40B4-BE49-F238E27FC236}">
                <a16:creationId xmlns:a16="http://schemas.microsoft.com/office/drawing/2014/main" id="{CC290DB5-BDBD-36EF-8EBE-D1C08160C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9187" y="4443786"/>
            <a:ext cx="53687" cy="8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514370">
              <a:defRPr/>
            </a:pPr>
            <a:endParaRPr kumimoji="1" lang="ja-JP" altLang="en-US" sz="1013">
              <a:solidFill>
                <a:srgbClr val="404040"/>
              </a:solidFill>
              <a:latin typeface="Arial" panose="020B0604020202020204" pitchFamily="34" charset="0"/>
              <a:ea typeface="Meiryo UI" panose="020B0604030504040204" pitchFamily="50" charset="-128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B3D23D9-0DBA-9E7D-36A9-8878CFEFD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t="19579" r="2601" b="8743"/>
          <a:stretch/>
        </p:blipFill>
        <p:spPr bwMode="auto">
          <a:xfrm>
            <a:off x="2793497" y="1705875"/>
            <a:ext cx="6114090" cy="329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7F2A9E54-67F6-9E8B-7C6D-229A5F720012}"/>
              </a:ext>
            </a:extLst>
          </p:cNvPr>
          <p:cNvSpPr/>
          <p:nvPr/>
        </p:nvSpPr>
        <p:spPr>
          <a:xfrm>
            <a:off x="1194230" y="1873948"/>
            <a:ext cx="1286444" cy="864139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C8003856-6F35-5BE4-D77D-872DE8DB206E}"/>
              </a:ext>
            </a:extLst>
          </p:cNvPr>
          <p:cNvSpPr/>
          <p:nvPr/>
        </p:nvSpPr>
        <p:spPr>
          <a:xfrm>
            <a:off x="9227499" y="1873948"/>
            <a:ext cx="1281724" cy="864139"/>
          </a:xfrm>
          <a:prstGeom prst="roundRect">
            <a:avLst>
              <a:gd name="adj" fmla="val 10000"/>
            </a:avLst>
          </a:prstGeom>
          <a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000" r="-2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Lekerekített téglalap 9">
            <a:extLst>
              <a:ext uri="{FF2B5EF4-FFF2-40B4-BE49-F238E27FC236}">
                <a16:creationId xmlns:a16="http://schemas.microsoft.com/office/drawing/2014/main" id="{F2F6917C-17B1-65F9-179C-EEB7427644AC}"/>
              </a:ext>
            </a:extLst>
          </p:cNvPr>
          <p:cNvSpPr/>
          <p:nvPr/>
        </p:nvSpPr>
        <p:spPr>
          <a:xfrm>
            <a:off x="9227498" y="2929018"/>
            <a:ext cx="1281724" cy="864139"/>
          </a:xfrm>
          <a:prstGeom prst="roundRect">
            <a:avLst>
              <a:gd name="adj" fmla="val 10000"/>
            </a:avLst>
          </a:prstGeom>
          <a:blipFill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7000" r="-2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Lekerekített téglalap 10">
            <a:extLst>
              <a:ext uri="{FF2B5EF4-FFF2-40B4-BE49-F238E27FC236}">
                <a16:creationId xmlns:a16="http://schemas.microsoft.com/office/drawing/2014/main" id="{0558BDD8-FA7F-4D7E-9585-EA2AE8001580}"/>
              </a:ext>
            </a:extLst>
          </p:cNvPr>
          <p:cNvSpPr/>
          <p:nvPr/>
        </p:nvSpPr>
        <p:spPr>
          <a:xfrm>
            <a:off x="1194230" y="2906707"/>
            <a:ext cx="1279355" cy="864139"/>
          </a:xfrm>
          <a:prstGeom prst="roundRect">
            <a:avLst>
              <a:gd name="adj" fmla="val 10000"/>
            </a:avLst>
          </a:prstGeom>
          <a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000" r="-5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Lekerekített téglalap 11">
            <a:extLst>
              <a:ext uri="{FF2B5EF4-FFF2-40B4-BE49-F238E27FC236}">
                <a16:creationId xmlns:a16="http://schemas.microsoft.com/office/drawing/2014/main" id="{667475E6-9460-FF37-400E-E4C9B8130A2C}"/>
              </a:ext>
            </a:extLst>
          </p:cNvPr>
          <p:cNvSpPr/>
          <p:nvPr/>
        </p:nvSpPr>
        <p:spPr>
          <a:xfrm>
            <a:off x="1194230" y="3923189"/>
            <a:ext cx="1279356" cy="845879"/>
          </a:xfrm>
          <a:prstGeom prst="roundRect">
            <a:avLst>
              <a:gd name="adj" fmla="val 10000"/>
            </a:avLst>
          </a:prstGeom>
          <a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2000" r="-4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14" name="Lekerekített téglalap 13">
            <a:extLst>
              <a:ext uri="{FF2B5EF4-FFF2-40B4-BE49-F238E27FC236}">
                <a16:creationId xmlns:a16="http://schemas.microsoft.com/office/drawing/2014/main" id="{6D3F7333-B889-F93D-7B35-FEB04E01C954}"/>
              </a:ext>
            </a:extLst>
          </p:cNvPr>
          <p:cNvSpPr/>
          <p:nvPr/>
        </p:nvSpPr>
        <p:spPr>
          <a:xfrm>
            <a:off x="9227498" y="3989672"/>
            <a:ext cx="1281724" cy="864139"/>
          </a:xfrm>
          <a:prstGeom prst="roundRect">
            <a:avLst>
              <a:gd name="adj" fmla="val 10000"/>
            </a:avLst>
          </a:prstGeom>
          <a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9000" r="-6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1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4D8C-2C73-1AFC-FA98-467AA9AD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Furukawa </a:t>
            </a:r>
            <a:r>
              <a:rPr lang="hu-HU" dirty="0" err="1"/>
              <a:t>Traffic</a:t>
            </a:r>
            <a:r>
              <a:rPr lang="hu-HU" dirty="0"/>
              <a:t> Monitoring Radar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09A08-0AB8-EEC6-4803-428DBDCD30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7CAEE-D743-5D35-3D16-47D4C74C2159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63" y="1360578"/>
            <a:ext cx="5466429" cy="471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32803-4D6D-684B-2892-5BE1A6D3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192" y="1153137"/>
            <a:ext cx="5242659" cy="2746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F4B6C4-46EE-5E20-2818-799DDC1BE1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517"/>
          <a:stretch>
            <a:fillRect/>
          </a:stretch>
        </p:blipFill>
        <p:spPr>
          <a:xfrm>
            <a:off x="6095715" y="4072523"/>
            <a:ext cx="5020764" cy="259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5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3A8E-FFB1-9DE4-AD07-80642CBD3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Measurment</a:t>
            </a:r>
            <a:r>
              <a:rPr lang="hu-HU" dirty="0"/>
              <a:t> </a:t>
            </a:r>
            <a:r>
              <a:rPr lang="hu-HU" dirty="0" err="1"/>
              <a:t>Campaign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FETI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4B87-4D77-F6FB-CA18-C922AB60416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1A9A6-67C2-AB3B-E057-0D63AA9082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D2ABC-A330-2630-30BC-69D23AE3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85" y="989032"/>
            <a:ext cx="7091813" cy="3967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076E4-9C64-7E03-F7FE-B441CD90E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180" y="966910"/>
            <a:ext cx="4336817" cy="3699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5DF55-81E4-A335-D241-F3A003DB78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651" y="4818461"/>
            <a:ext cx="8102800" cy="18476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678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E688-9BFD-3DDC-21CA-307B5E9D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Radar and camera </a:t>
            </a:r>
            <a:r>
              <a:rPr lang="hu-HU" dirty="0" err="1"/>
              <a:t>recordings</a:t>
            </a:r>
            <a:endParaRPr lang="hu-H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15BB5-8EBF-2B31-C188-653DF24778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5ECF8-35E1-5E59-D0AD-5C7D2DA8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411" y="1293615"/>
            <a:ext cx="2477393" cy="193568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AE1C65-7129-01C6-0D13-21311C3D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62" y="3412920"/>
            <a:ext cx="5972810" cy="32010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38BDF-D82C-EFDB-04F9-908D53A4D9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480"/>
          <a:stretch>
            <a:fillRect/>
          </a:stretch>
        </p:blipFill>
        <p:spPr bwMode="auto">
          <a:xfrm>
            <a:off x="6639974" y="1148198"/>
            <a:ext cx="5390325" cy="4928137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342074-87FB-2C37-733D-3F359A6402EF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60" y="1140683"/>
            <a:ext cx="2857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5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81B6-A114-4BC4-A906-AEFE7E79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Homography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8F4D-79E7-C0A9-C598-3E0FBC006DD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BBAB1-C1F7-E725-19AF-9A2AFBBCBD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2">
            <a:extLst>
              <a:ext uri="{FF2B5EF4-FFF2-40B4-BE49-F238E27FC236}">
                <a16:creationId xmlns:a16="http://schemas.microsoft.com/office/drawing/2014/main" id="{51D40430-2C74-47A5-897F-227AAC9D0C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14"/>
          <a:stretch>
            <a:fillRect/>
          </a:stretch>
        </p:blipFill>
        <p:spPr>
          <a:xfrm>
            <a:off x="357780" y="1903053"/>
            <a:ext cx="5447489" cy="4158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490B24-DFBE-4F11-081F-BEDED0B54F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146"/>
          <a:stretch>
            <a:fillRect/>
          </a:stretch>
        </p:blipFill>
        <p:spPr bwMode="auto">
          <a:xfrm>
            <a:off x="6095715" y="1903052"/>
            <a:ext cx="6050404" cy="41585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7853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575E-F2EA-EEB3-D9E1-A2F752A5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Task</a:t>
            </a:r>
            <a:r>
              <a:rPr lang="hu-HU" dirty="0"/>
              <a:t> </a:t>
            </a:r>
            <a:r>
              <a:rPr lang="hu-HU" dirty="0" err="1"/>
              <a:t>list</a:t>
            </a:r>
            <a:br>
              <a:rPr lang="hu-HU" dirty="0"/>
            </a:br>
            <a:endParaRPr lang="hu-H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332F2A-0D88-0DA5-9241-51D4BE4A3CD8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207933" y="1903053"/>
            <a:ext cx="7314663" cy="421752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B36CB-C5F3-B356-0A64-6E6D279EBA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E37FB-DC65-3CD0-1B6E-C9D890A42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734" y="1606961"/>
            <a:ext cx="6079379" cy="42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0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8F46-0046-35CE-6BBD-734AC3C7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hu-H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E8A7DD-EFE4-76AF-786A-AC61DFE65A4C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303776" y="922879"/>
            <a:ext cx="6529265" cy="2506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59F251-32CB-327D-17E1-E6DA1C5B0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174" y="922879"/>
            <a:ext cx="4030302" cy="56080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915DAF-0E21-687B-F46F-61199AC43AA7}"/>
              </a:ext>
            </a:extLst>
          </p:cNvPr>
          <p:cNvSpPr/>
          <p:nvPr/>
        </p:nvSpPr>
        <p:spPr>
          <a:xfrm>
            <a:off x="7164970" y="5442155"/>
            <a:ext cx="4258506" cy="10887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hu-HU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E6DF63-4507-5A52-1EFD-9AB74743D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512" y="3829327"/>
            <a:ext cx="2644315" cy="270160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8EEE6E-0995-D231-A55B-BA064A638A2C}"/>
              </a:ext>
            </a:extLst>
          </p:cNvPr>
          <p:cNvSpPr/>
          <p:nvPr/>
        </p:nvSpPr>
        <p:spPr>
          <a:xfrm>
            <a:off x="3134669" y="3829326"/>
            <a:ext cx="685164" cy="5361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hu-H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8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1F8-2144-3D64-0594-DD0445B1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  <a:endParaRPr lang="hu-H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BFA2F-3A35-C878-A0DF-F822037B3F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33A18-E28C-E9E6-ACAC-DBB9358787D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5D9B25-F048-40E2-C400-695C0036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2075476"/>
            <a:ext cx="11537696" cy="270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41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FD39-4708-4815-68D7-E8C61A75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Deadlines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1090-1CD0-3476-4A09-E20F704A437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Annotation of Camera Recordings </a:t>
            </a:r>
            <a:r>
              <a:rPr lang="en-US" sz="2000" b="1" i="1" dirty="0"/>
              <a:t>(deadline: April 19)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Model Training </a:t>
            </a:r>
            <a:r>
              <a:rPr lang="en-US" sz="2000" b="1" i="1" dirty="0"/>
              <a:t>(deadline: May 3)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Deliverables </a:t>
            </a:r>
            <a:r>
              <a:rPr lang="en-US" sz="2000" b="1" i="1" dirty="0"/>
              <a:t>(deadline: May 24)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Presentation at BME </a:t>
            </a:r>
            <a:r>
              <a:rPr lang="en-US" sz="2000" b="1" i="1" dirty="0"/>
              <a:t>(May 27)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Finalization </a:t>
            </a:r>
            <a:r>
              <a:rPr lang="en-US" sz="2000" b="1" i="1" dirty="0"/>
              <a:t>(deadline: </a:t>
            </a:r>
            <a:r>
              <a:rPr lang="hu-HU" sz="2000" b="1" i="1" dirty="0"/>
              <a:t>May 29</a:t>
            </a:r>
            <a:r>
              <a:rPr lang="en-US" sz="2000" b="1" i="1" dirty="0"/>
              <a:t>)</a:t>
            </a:r>
            <a:endParaRPr lang="hu-HU" sz="2000" dirty="0"/>
          </a:p>
          <a:p>
            <a:pPr marL="342900" indent="-342900">
              <a:buFont typeface="+mj-lt"/>
              <a:buAutoNum type="arabicPeriod"/>
            </a:pPr>
            <a:endParaRPr lang="hu-HU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Presentation at FETI </a:t>
            </a:r>
            <a:r>
              <a:rPr lang="en-US" sz="2000" b="1" i="1" dirty="0"/>
              <a:t>(</a:t>
            </a:r>
            <a:r>
              <a:rPr lang="hu-HU" sz="2000" b="1" i="1" dirty="0" err="1"/>
              <a:t>June</a:t>
            </a:r>
            <a:r>
              <a:rPr lang="hu-HU" sz="2000" b="1" i="1" dirty="0"/>
              <a:t> 1, 14:00)</a:t>
            </a:r>
            <a:endParaRPr lang="hu-HU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63B3C-A79A-3338-9201-D0123B61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991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1A5D-97FF-CFFC-B19A-A589C519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Prize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515A-B683-94CA-DE0E-E3226C6EA8C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7C99-0798-A2C6-B5C0-F7A86821EF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/>
              <a:t>Gift voucher worth a total of 100,000 HUF</a:t>
            </a:r>
            <a:endParaRPr lang="hu-HU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1F4FA-3597-0170-DE46-B4297AFB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1917538"/>
            <a:ext cx="5462044" cy="3987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1AF89-D17F-F60D-D207-06FC55F3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764" y="1917538"/>
            <a:ext cx="5559701" cy="398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8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F5E35C1-6A04-5C22-EC7D-ADA9F0C2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10342"/>
            <a:ext cx="4191000" cy="5747658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6A6E9484-1606-DB97-4204-2DB0AB028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0000" y="3653383"/>
            <a:ext cx="6912000" cy="1323439"/>
          </a:xfrm>
        </p:spPr>
        <p:txBody>
          <a:bodyPr/>
          <a:lstStyle/>
          <a:p>
            <a:r>
              <a:rPr lang="en-GB" dirty="0"/>
              <a:t>FETI Kft.</a:t>
            </a:r>
          </a:p>
          <a:p>
            <a:r>
              <a:rPr lang="en-GB" dirty="0"/>
              <a:t>H-1158 Budapest, </a:t>
            </a:r>
            <a:r>
              <a:rPr lang="en-GB" dirty="0" err="1"/>
              <a:t>Késmárk</a:t>
            </a:r>
            <a:r>
              <a:rPr lang="en-GB" dirty="0"/>
              <a:t> u. 28/A</a:t>
            </a:r>
          </a:p>
          <a:p>
            <a:r>
              <a:rPr lang="en-GB" dirty="0"/>
              <a:t>Telephone: +36 1 414 0250</a:t>
            </a:r>
          </a:p>
          <a:p>
            <a:r>
              <a:rPr lang="en-GB" dirty="0"/>
              <a:t>Web: </a:t>
            </a:r>
            <a:r>
              <a:rPr lang="en-GB" dirty="0">
                <a:hlinkClick r:id="rId4"/>
              </a:rPr>
              <a:t>https://www.feti.hu</a:t>
            </a:r>
            <a:endParaRPr lang="hu-HU" dirty="0"/>
          </a:p>
          <a:p>
            <a:r>
              <a:rPr lang="hu-HU" dirty="0"/>
              <a:t>Email: robert.hajdu@furukawaelectric.com</a:t>
            </a:r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2BD0E3D-077A-EAF3-BEAE-984D7418F8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540000" y="2968580"/>
            <a:ext cx="6912000" cy="684803"/>
          </a:xfrm>
        </p:spPr>
        <p:txBody>
          <a:bodyPr/>
          <a:lstStyle/>
          <a:p>
            <a:r>
              <a:rPr lang="en-GB" dirty="0"/>
              <a:t>Furukawa Electric Institute of Technology</a:t>
            </a:r>
          </a:p>
          <a:p>
            <a:r>
              <a:rPr lang="en-GB" b="1" dirty="0"/>
              <a:t>R&amp;D FOR A SUSTAINABLE FUTURE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2F3AD365-691C-313F-3BB4-489251F362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0000" y="2476137"/>
            <a:ext cx="6912000" cy="492443"/>
          </a:xfrm>
        </p:spPr>
        <p:txBody>
          <a:bodyPr/>
          <a:lstStyle/>
          <a:p>
            <a:r>
              <a:rPr lang="en-GB" dirty="0"/>
              <a:t>THANK YOU!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BDED2937-ECE6-E375-1FC8-E43AFDF3A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1" y="2476137"/>
            <a:ext cx="2141110" cy="2141110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12B893C-6B53-D8D5-BE43-928C2F0DA3B8}"/>
              </a:ext>
            </a:extLst>
          </p:cNvPr>
          <p:cNvSpPr txBox="1"/>
          <p:nvPr/>
        </p:nvSpPr>
        <p:spPr>
          <a:xfrm>
            <a:off x="9236868" y="5221265"/>
            <a:ext cx="1693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66CC"/>
                </a:solidFill>
              </a:rPr>
              <a:t>Follow FETI on LinkedIn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8FD1B3D8-00FB-94D2-4BBD-A9EF76554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175" y="5101517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078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SCLIENT" val="True"/>
  <p:tag name="TEMPLATECREATED" val="2022-08-03 08:22 午前"/>
  <p:tag name="THINKCELLUNDODONOTDELETE" val="0"/>
  <p:tag name="TEMPLATELASTEDITED" val="2022-10-17 11:14 午前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heme/theme1.xml><?xml version="1.0" encoding="utf-8"?>
<a:theme xmlns:a="http://schemas.openxmlformats.org/drawingml/2006/main" name="標準03_Standard 03">
  <a:themeElements>
    <a:clrScheme name="Furukawa Color Scheme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B2D5EF"/>
      </a:accent1>
      <a:accent2>
        <a:srgbClr val="3BBDF7"/>
      </a:accent2>
      <a:accent3>
        <a:srgbClr val="0075C2"/>
      </a:accent3>
      <a:accent4>
        <a:srgbClr val="003E68"/>
      </a:accent4>
      <a:accent5>
        <a:srgbClr val="E6002D"/>
      </a:accent5>
      <a:accent6>
        <a:srgbClr val="808080"/>
      </a:accent6>
      <a:hlink>
        <a:srgbClr val="003E68"/>
      </a:hlink>
      <a:folHlink>
        <a:srgbClr val="003E68"/>
      </a:folHlink>
    </a:clrScheme>
    <a:fontScheme name="Furukawa Font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/>
          </a:solidFill>
        </a:ln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spcAft>
            <a:spcPts val="300"/>
          </a:spcAft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3694A19-6D27-41CE-8D3C-6F068CE193FB}" vid="{B9A1A64A-1DA6-4DA1-91B7-CFFA51138233}"/>
    </a:ext>
  </a:extLst>
</a:theme>
</file>

<file path=ppt/theme/theme2.xml><?xml version="1.0" encoding="utf-8"?>
<a:theme xmlns:a="http://schemas.openxmlformats.org/drawingml/2006/main" name="2_tempppt補足資料">
  <a:themeElements>
    <a:clrScheme name="Furukawa Color Scheme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B2D5EF"/>
      </a:accent1>
      <a:accent2>
        <a:srgbClr val="3BBDF7"/>
      </a:accent2>
      <a:accent3>
        <a:srgbClr val="0075C2"/>
      </a:accent3>
      <a:accent4>
        <a:srgbClr val="003E68"/>
      </a:accent4>
      <a:accent5>
        <a:srgbClr val="E6002D"/>
      </a:accent5>
      <a:accent6>
        <a:srgbClr val="808080"/>
      </a:accent6>
      <a:hlink>
        <a:srgbClr val="003E68"/>
      </a:hlink>
      <a:folHlink>
        <a:srgbClr val="003E68"/>
      </a:folHlink>
    </a:clrScheme>
    <a:fontScheme name="Furukawa Font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/>
          </a:solidFill>
        </a:ln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3694A19-6D27-41CE-8D3C-6F068CE193FB}" vid="{87557F06-B445-43BE-A147-2F7F054862F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c2dd37-6e28-41cf-819a-02f45142dc45">
      <Terms xmlns="http://schemas.microsoft.com/office/infopath/2007/PartnerControls"/>
    </lcf76f155ced4ddcb4097134ff3c332f>
    <TaxCatchAll xmlns="866f80fe-750a-427a-87b5-40cdc82b819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EC6B41C5D63D6B47A39B678AF8D13BF2" ma:contentTypeVersion="14" ma:contentTypeDescription="Új dokumentum létrehozása." ma:contentTypeScope="" ma:versionID="053cd1bc0dffdbf0b977b3b542d62b01">
  <xsd:schema xmlns:xsd="http://www.w3.org/2001/XMLSchema" xmlns:xs="http://www.w3.org/2001/XMLSchema" xmlns:p="http://schemas.microsoft.com/office/2006/metadata/properties" xmlns:ns2="866f80fe-750a-427a-87b5-40cdc82b819e" xmlns:ns3="33c2dd37-6e28-41cf-819a-02f45142dc45" targetNamespace="http://schemas.microsoft.com/office/2006/metadata/properties" ma:root="true" ma:fieldsID="54a366f1cbc4b351f96a5ec708f61057" ns2:_="" ns3:_="">
    <xsd:import namespace="866f80fe-750a-427a-87b5-40cdc82b819e"/>
    <xsd:import namespace="33c2dd37-6e28-41cf-819a-02f45142dc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f80fe-750a-427a-87b5-40cdc82b819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5c69491-ccdb-4e11-bf8c-aec6efcb9f3e}" ma:internalName="TaxCatchAll" ma:showField="CatchAllData" ma:web="866f80fe-750a-427a-87b5-40cdc82b81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c2dd37-6e28-41cf-819a-02f45142d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Képcímkék" ma:readOnly="false" ma:fieldId="{5cf76f15-5ced-4ddc-b409-7134ff3c332f}" ma:taxonomyMulti="true" ma:sspId="ff2cb0df-550a-407e-b653-309ca6aff5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147480-04F5-49A1-8324-36EA7336C902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3c2dd37-6e28-41cf-819a-02f45142dc45"/>
    <ds:schemaRef ds:uri="866f80fe-750a-427a-87b5-40cdc82b819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0E8B91F-C8C5-481F-B0AA-D6938D4E8484}">
  <ds:schemaRefs>
    <ds:schemaRef ds:uri="33c2dd37-6e28-41cf-819a-02f45142dc45"/>
    <ds:schemaRef ds:uri="866f80fe-750a-427a-87b5-40cdc82b81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915AEA-D3D9-4A4F-9E3E-72321407E1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2051</TotalTime>
  <Words>1190</Words>
  <Application>Microsoft Office PowerPoint</Application>
  <PresentationFormat>Widescreen</PresentationFormat>
  <Paragraphs>147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HGP創英角ｺﾞｼｯｸUB</vt:lpstr>
      <vt:lpstr>メイリオ</vt:lpstr>
      <vt:lpstr>Meiryo UI</vt:lpstr>
      <vt:lpstr>游ゴシック</vt:lpstr>
      <vt:lpstr>Aptos</vt:lpstr>
      <vt:lpstr>Arial</vt:lpstr>
      <vt:lpstr>Arial Unicode MS</vt:lpstr>
      <vt:lpstr>Calibri Light</vt:lpstr>
      <vt:lpstr>Georgia</vt:lpstr>
      <vt:lpstr>Wingdings</vt:lpstr>
      <vt:lpstr>標準03_Standard 03</vt:lpstr>
      <vt:lpstr>2_tempppt補足資料</vt:lpstr>
      <vt:lpstr>think-cell Slide</vt:lpstr>
      <vt:lpstr>PowerPoint Presentation</vt:lpstr>
      <vt:lpstr>Corporate Profile</vt:lpstr>
      <vt:lpstr>Major Products and Services</vt:lpstr>
      <vt:lpstr>Major Products</vt:lpstr>
      <vt:lpstr>Furukawa Electric R&amp;D and New business</vt:lpstr>
      <vt:lpstr>FETI Budapest Organisation 🇭🇺</vt:lpstr>
      <vt:lpstr>Furukawa Traffic Monitoring Radar</vt:lpstr>
      <vt:lpstr>Measurment Campaign at FETI site</vt:lpstr>
      <vt:lpstr>Radar and camera recordings</vt:lpstr>
      <vt:lpstr>Homography</vt:lpstr>
      <vt:lpstr>Task list </vt:lpstr>
      <vt:lpstr>Literature Review</vt:lpstr>
      <vt:lpstr>Deliverables</vt:lpstr>
      <vt:lpstr>Deadlines</vt:lpstr>
      <vt:lpstr>Prize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西野　玲奈 / Leina Nishino</dc:creator>
  <cp:keywords>FurCor</cp:keywords>
  <dc:description>FurCor</dc:description>
  <cp:lastModifiedBy>Robert Hajdu</cp:lastModifiedBy>
  <cp:revision>62</cp:revision>
  <dcterms:created xsi:type="dcterms:W3CDTF">2024-05-17T04:29:27Z</dcterms:created>
  <dcterms:modified xsi:type="dcterms:W3CDTF">2026-04-15T13:30:41Z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Created">
    <vt:lpwstr>2022-08-03 08:22 午前</vt:lpwstr>
  </property>
  <property fmtid="{D5CDD505-2E9C-101B-9397-08002B2CF9AE}" pid="3" name="TemplateLastEdited">
    <vt:lpwstr>2022-10-17 11:14 午前</vt:lpwstr>
  </property>
  <property fmtid="{D5CDD505-2E9C-101B-9397-08002B2CF9AE}" pid="4" name="MediaServiceImageTags">
    <vt:lpwstr/>
  </property>
  <property fmtid="{D5CDD505-2E9C-101B-9397-08002B2CF9AE}" pid="5" name="ContentTypeId">
    <vt:lpwstr>0x010100EC6B41C5D63D6B47A39B678AF8D13BF2</vt:lpwstr>
  </property>
</Properties>
</file>